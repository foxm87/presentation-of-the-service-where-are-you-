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1"/>
  </p:sldMasterIdLst>
  <p:notesMasterIdLst>
    <p:notesMasterId r:id="rId10"/>
  </p:notesMasterIdLst>
  <p:sldIdLst>
    <p:sldId id="281" r:id="rId2"/>
    <p:sldId id="269" r:id="rId3"/>
    <p:sldId id="282" r:id="rId4"/>
    <p:sldId id="284" r:id="rId5"/>
    <p:sldId id="283" r:id="rId6"/>
    <p:sldId id="285" r:id="rId7"/>
    <p:sldId id="286" r:id="rId8"/>
    <p:sldId id="287"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rew Mr" initials="AM" lastIdx="19" clrIdx="0">
    <p:extLst>
      <p:ext uri="{19B8F6BF-5375-455C-9EA6-DF929625EA0E}">
        <p15:presenceInfo xmlns:p15="http://schemas.microsoft.com/office/powerpoint/2012/main" userId="8eaac9306ddff72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3BF"/>
    <a:srgbClr val="85A3AC"/>
    <a:srgbClr val="4398E5"/>
    <a:srgbClr val="FFFFFF"/>
    <a:srgbClr val="0082B3"/>
    <a:srgbClr val="5F5F5F"/>
    <a:srgbClr val="00FFFF"/>
    <a:srgbClr val="BFBFBF"/>
    <a:srgbClr val="009A46"/>
    <a:srgbClr val="F6AB2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Светлы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Средний стиль 1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27" autoAdjust="0"/>
    <p:restoredTop sz="91254" autoAdjust="0"/>
  </p:normalViewPr>
  <p:slideViewPr>
    <p:cSldViewPr snapToGrid="0" snapToObjects="1" showGuides="1">
      <p:cViewPr varScale="1">
        <p:scale>
          <a:sx n="78" d="100"/>
          <a:sy n="78" d="100"/>
        </p:scale>
        <p:origin x="1503" y="51"/>
      </p:cViewPr>
      <p:guideLst/>
    </p:cSldViewPr>
  </p:slideViewPr>
  <p:outlineViewPr>
    <p:cViewPr>
      <p:scale>
        <a:sx n="33" d="100"/>
        <a:sy n="33" d="100"/>
      </p:scale>
      <p:origin x="0" y="14244"/>
    </p:cViewPr>
  </p:outlineViewPr>
  <p:notesTextViewPr>
    <p:cViewPr>
      <p:scale>
        <a:sx n="100" d="100"/>
        <a:sy n="100" d="100"/>
      </p:scale>
      <p:origin x="0" y="0"/>
    </p:cViewPr>
  </p:notesTextViewPr>
  <p:sorterViewPr>
    <p:cViewPr>
      <p:scale>
        <a:sx n="100" d="100"/>
        <a:sy n="100" d="100"/>
      </p:scale>
      <p:origin x="0" y="0"/>
    </p:cViewPr>
  </p:sorterViewPr>
  <p:gridSpacing cx="76330" cy="7633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0F3A6D-28AB-44E8-91C0-247DAD8BEC2A}" type="datetimeFigureOut">
              <a:rPr lang="ru-RU" smtClean="0"/>
              <a:t>21.01.2026</a:t>
            </a:fld>
            <a:endParaRPr lang="ru-RU"/>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E3755-2E79-4148-8AD7-9FE09242B941}" type="slidenum">
              <a:rPr lang="ru-RU" smtClean="0"/>
              <a:t>‹#›</a:t>
            </a:fld>
            <a:endParaRPr lang="ru-RU"/>
          </a:p>
        </p:txBody>
      </p:sp>
    </p:spTree>
    <p:extLst>
      <p:ext uri="{BB962C8B-B14F-4D97-AF65-F5344CB8AC3E}">
        <p14:creationId xmlns:p14="http://schemas.microsoft.com/office/powerpoint/2010/main" val="3301864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descr="Design ppt-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1319017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Picture 2" descr="Design ppt-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794674" y="2690146"/>
            <a:ext cx="8229600" cy="1143000"/>
          </a:xfrm>
        </p:spPr>
        <p:txBody>
          <a:bodyPr>
            <a:normAutofit/>
          </a:bodyPr>
          <a:lstStyle>
            <a:lvl1pPr>
              <a:defRPr sz="2800" b="1">
                <a:solidFill>
                  <a:srgbClr val="58595B"/>
                </a:solidFill>
              </a:defRPr>
            </a:lvl1pPr>
          </a:lstStyle>
          <a:p>
            <a:r>
              <a:rPr lang="en-US" dirty="0"/>
              <a:t>Click to edit Master title style</a:t>
            </a:r>
          </a:p>
        </p:txBody>
      </p:sp>
    </p:spTree>
    <p:extLst>
      <p:ext uri="{BB962C8B-B14F-4D97-AF65-F5344CB8AC3E}">
        <p14:creationId xmlns:p14="http://schemas.microsoft.com/office/powerpoint/2010/main" val="1862743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1" descr="Design ppt-03.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Text Placeholder 2"/>
          <p:cNvSpPr>
            <a:spLocks noGrp="1"/>
          </p:cNvSpPr>
          <p:nvPr>
            <p:ph type="body" idx="4294967295"/>
          </p:nvPr>
        </p:nvSpPr>
        <p:spPr>
          <a:xfrm>
            <a:off x="837766" y="1056785"/>
            <a:ext cx="7772400" cy="3332354"/>
          </a:xfrm>
        </p:spPr>
        <p:txBody>
          <a:bodyPr anchor="t">
            <a:normAutofit/>
          </a:bodyPr>
          <a:lstStyle/>
          <a:p>
            <a:pPr marL="0" indent="0">
              <a:spcBef>
                <a:spcPts val="0"/>
              </a:spcBef>
              <a:buNone/>
            </a:pPr>
            <a:endParaRPr lang="en-US" sz="1400" b="1" dirty="0">
              <a:solidFill>
                <a:srgbClr val="58595B"/>
              </a:solidFill>
            </a:endParaRPr>
          </a:p>
        </p:txBody>
      </p:sp>
      <p:sp>
        <p:nvSpPr>
          <p:cNvPr id="10" name="Title 1"/>
          <p:cNvSpPr>
            <a:spLocks noGrp="1"/>
          </p:cNvSpPr>
          <p:nvPr>
            <p:ph type="title" idx="4294967295"/>
          </p:nvPr>
        </p:nvSpPr>
        <p:spPr>
          <a:xfrm>
            <a:off x="2702755" y="239577"/>
            <a:ext cx="5689699" cy="346539"/>
          </a:xfrm>
        </p:spPr>
        <p:txBody>
          <a:bodyPr>
            <a:noAutofit/>
          </a:bodyPr>
          <a:lstStyle>
            <a:lvl1pPr>
              <a:defRPr sz="1800"/>
            </a:lvl1pPr>
          </a:lstStyle>
          <a:p>
            <a:pPr algn="l">
              <a:lnSpc>
                <a:spcPct val="50000"/>
              </a:lnSpc>
              <a:spcBef>
                <a:spcPts val="0"/>
              </a:spcBef>
            </a:pPr>
            <a:endParaRPr lang="en-US" sz="1400" b="0" cap="none" dirty="0">
              <a:solidFill>
                <a:srgbClr val="58595B"/>
              </a:solidFill>
            </a:endParaRPr>
          </a:p>
        </p:txBody>
      </p:sp>
    </p:spTree>
    <p:extLst>
      <p:ext uri="{BB962C8B-B14F-4D97-AF65-F5344CB8AC3E}">
        <p14:creationId xmlns:p14="http://schemas.microsoft.com/office/powerpoint/2010/main" val="3708614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3" name="Picture 2" descr="Design ppt-04.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03759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E02902B4-6EEE-5D4D-A181-B6AB64668B71}" type="datetimeFigureOut">
              <a:rPr lang="en-US" smtClean="0"/>
              <a:pPr/>
              <a:t>1/21/2026</a:t>
            </a:fld>
            <a:endParaRPr lang="en-US"/>
          </a:p>
        </p:txBody>
      </p:sp>
      <p:sp>
        <p:nvSpPr>
          <p:cNvPr id="3" name="Нижний колонтитул 2"/>
          <p:cNvSpPr>
            <a:spLocks noGrp="1"/>
          </p:cNvSpPr>
          <p:nvPr>
            <p:ph type="ftr" sz="quarter" idx="11"/>
          </p:nvPr>
        </p:nvSpPr>
        <p:spPr/>
        <p:txBody>
          <a:bodyPr/>
          <a:lstStyle/>
          <a:p>
            <a:endParaRPr lang="en-US"/>
          </a:p>
        </p:txBody>
      </p:sp>
      <p:sp>
        <p:nvSpPr>
          <p:cNvPr id="4" name="Номер слайда 3"/>
          <p:cNvSpPr>
            <a:spLocks noGrp="1"/>
          </p:cNvSpPr>
          <p:nvPr>
            <p:ph type="sldNum" sz="quarter" idx="12"/>
          </p:nvPr>
        </p:nvSpPr>
        <p:spPr/>
        <p:txBody>
          <a:bodyPr/>
          <a:lstStyle/>
          <a:p>
            <a:fld id="{09482311-CF76-AC42-BAB2-CEFF084B9A9E}" type="slidenum">
              <a:rPr lang="en-US" smtClean="0"/>
              <a:pPr/>
              <a:t>‹#›</a:t>
            </a:fld>
            <a:endParaRPr lang="en-US"/>
          </a:p>
        </p:txBody>
      </p:sp>
    </p:spTree>
    <p:extLst>
      <p:ext uri="{BB962C8B-B14F-4D97-AF65-F5344CB8AC3E}">
        <p14:creationId xmlns:p14="http://schemas.microsoft.com/office/powerpoint/2010/main" val="1547184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IO_EK=1044;MIO_UPDATE=True;MIO_VERSION=05.11.2014 21:53:05;MIO_DBID=528EDE50-A806-43D6-A4AF-2784DE2408F4;MIO_LASTDOWNLOADED=27.11.2014 16:52:55;MIO_OBJECTNAME=Test;MIO_LASTEDITORNAME=Alexandr Malasciuc">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2902B4-6EEE-5D4D-A181-B6AB64668B71}" type="datetimeFigureOut">
              <a:rPr lang="en-US" smtClean="0"/>
              <a:pPr/>
              <a:t>1/21/2026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482311-CF76-AC42-BAB2-CEFF084B9A9E}" type="slidenum">
              <a:rPr lang="en-US" smtClean="0"/>
              <a:pPr/>
              <a:t>‹#›</a:t>
            </a:fld>
            <a:endParaRPr lang="en-US"/>
          </a:p>
        </p:txBody>
      </p:sp>
      <p:sp>
        <p:nvSpPr>
          <p:cNvPr id="7" name="empower - DO NOT DELETE!!!" hidden="1"/>
          <p:cNvSpPr/>
          <p:nvPr>
            <p:custDataLst>
              <p:tags r:id="rId7"/>
            </p:custDataLst>
          </p:nvPr>
        </p:nvSpPr>
        <p:spPr>
          <a:xfrm>
            <a:off x="-1270000" y="-1270000"/>
            <a:ext cx="0" cy="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434878919"/>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a:solidFill>
                  <a:srgbClr val="0093BF"/>
                </a:solidFill>
                <a:latin typeface="Georgia" panose="02040502050405020303" pitchFamily="18" charset="0"/>
                <a:cs typeface="Arial" panose="020B0604020202020204" pitchFamily="34" charset="0"/>
              </a:rPr>
              <a:t>WHERE ARE YOU?</a:t>
            </a:r>
            <a:endParaRPr lang="ru-RU" dirty="0">
              <a:solidFill>
                <a:srgbClr val="0093BF"/>
              </a:solidFill>
              <a:latin typeface="Georgia" panose="02040502050405020303" pitchFamily="18" charset="0"/>
              <a:cs typeface="Arial" panose="020B0604020202020204" pitchFamily="34" charset="0"/>
            </a:endParaRPr>
          </a:p>
        </p:txBody>
      </p:sp>
      <p:sp>
        <p:nvSpPr>
          <p:cNvPr id="7" name="Subtitle 6"/>
          <p:cNvSpPr>
            <a:spLocks noGrp="1"/>
          </p:cNvSpPr>
          <p:nvPr>
            <p:ph type="subTitle" idx="1"/>
          </p:nvPr>
        </p:nvSpPr>
        <p:spPr>
          <a:xfrm>
            <a:off x="1371600" y="3309330"/>
            <a:ext cx="6400800" cy="1752600"/>
          </a:xfrm>
        </p:spPr>
        <p:txBody>
          <a:bodyPr/>
          <a:lstStyle/>
          <a:p>
            <a:r>
              <a:rPr lang="en-US" dirty="0">
                <a:solidFill>
                  <a:srgbClr val="5F5F5F"/>
                </a:solidFill>
                <a:latin typeface="Georgia" panose="02040502050405020303" pitchFamily="18" charset="0"/>
              </a:rPr>
              <a:t>Location-based VAS service</a:t>
            </a:r>
            <a:endParaRPr lang="ru-RU" dirty="0">
              <a:solidFill>
                <a:srgbClr val="5F5F5F"/>
              </a:solidFill>
              <a:latin typeface="Georgia" panose="02040502050405020303" pitchFamily="18" charset="0"/>
            </a:endParaRPr>
          </a:p>
        </p:txBody>
      </p:sp>
      <p:sp>
        <p:nvSpPr>
          <p:cNvPr id="2" name="TextBox 1">
            <a:extLst>
              <a:ext uri="{FF2B5EF4-FFF2-40B4-BE49-F238E27FC236}">
                <a16:creationId xmlns:a16="http://schemas.microsoft.com/office/drawing/2014/main" id="{311B3742-4448-9D6B-61EA-20A3B0192BCE}"/>
              </a:ext>
            </a:extLst>
          </p:cNvPr>
          <p:cNvSpPr txBox="1"/>
          <p:nvPr/>
        </p:nvSpPr>
        <p:spPr>
          <a:xfrm>
            <a:off x="441858" y="6192145"/>
            <a:ext cx="2454765" cy="368215"/>
          </a:xfrm>
          <a:prstGeom prst="rect">
            <a:avLst/>
          </a:prstGeom>
          <a:noFill/>
        </p:spPr>
        <p:txBody>
          <a:bodyPr wrap="square" rtlCol="0">
            <a:spAutoFit/>
          </a:bodyPr>
          <a:lstStyle/>
          <a:p>
            <a:r>
              <a:rPr lang="en-US" dirty="0">
                <a:solidFill>
                  <a:srgbClr val="5F5F5F"/>
                </a:solidFill>
                <a:latin typeface="Georgia" panose="02040502050405020303" pitchFamily="18" charset="0"/>
              </a:rPr>
              <a:t>January 2026</a:t>
            </a:r>
            <a:endParaRPr lang="ru-RU" dirty="0">
              <a:solidFill>
                <a:srgbClr val="5F5F5F"/>
              </a:solidFill>
              <a:latin typeface="Georgia" panose="02040502050405020303" pitchFamily="18" charset="0"/>
            </a:endParaRPr>
          </a:p>
        </p:txBody>
      </p:sp>
    </p:spTree>
    <p:extLst>
      <p:ext uri="{BB962C8B-B14F-4D97-AF65-F5344CB8AC3E}">
        <p14:creationId xmlns:p14="http://schemas.microsoft.com/office/powerpoint/2010/main" val="3954541769"/>
      </p:ext>
    </p:extLst>
  </p:cSld>
  <p:clrMapOvr>
    <a:masterClrMapping/>
  </p:clrMapOvr>
  <mc:AlternateContent xmlns:mc="http://schemas.openxmlformats.org/markup-compatibility/2006" xmlns:p14="http://schemas.microsoft.com/office/powerpoint/2010/main">
    <mc:Choice Requires="p14">
      <p:transition spd="slow" p14:dur="2000" advTm="5332"/>
    </mc:Choice>
    <mc:Fallback xmlns="">
      <p:transition spd="slow" advTm="533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idx="4294967295"/>
          </p:nvPr>
        </p:nvSpPr>
        <p:spPr>
          <a:xfrm>
            <a:off x="505633" y="598723"/>
            <a:ext cx="7697697" cy="236690"/>
          </a:xfrm>
        </p:spPr>
        <p:txBody>
          <a:bodyPr>
            <a:noAutofit/>
          </a:bodyPr>
          <a:lstStyle/>
          <a:p>
            <a:pPr algn="l">
              <a:lnSpc>
                <a:spcPct val="50000"/>
              </a:lnSpc>
              <a:spcBef>
                <a:spcPts val="0"/>
              </a:spcBef>
            </a:pPr>
            <a:r>
              <a:rPr lang="en-US" sz="3200" b="1" cap="none" dirty="0">
                <a:solidFill>
                  <a:srgbClr val="0093BF"/>
                </a:solidFill>
                <a:latin typeface="Georgia" panose="02040502050405020303" pitchFamily="18" charset="0"/>
                <a:cs typeface="Trebuchet MS"/>
              </a:rPr>
              <a:t>Service Overview</a:t>
            </a:r>
          </a:p>
        </p:txBody>
      </p:sp>
      <p:sp>
        <p:nvSpPr>
          <p:cNvPr id="2" name="TextBox 1">
            <a:extLst>
              <a:ext uri="{FF2B5EF4-FFF2-40B4-BE49-F238E27FC236}">
                <a16:creationId xmlns:a16="http://schemas.microsoft.com/office/drawing/2014/main" id="{6F3CBC81-D44E-4021-A6F1-13ABAA43CAD5}"/>
              </a:ext>
            </a:extLst>
          </p:cNvPr>
          <p:cNvSpPr txBox="1"/>
          <p:nvPr/>
        </p:nvSpPr>
        <p:spPr>
          <a:xfrm>
            <a:off x="578073" y="1153740"/>
            <a:ext cx="7987854" cy="2031325"/>
          </a:xfrm>
          <a:prstGeom prst="rect">
            <a:avLst/>
          </a:prstGeom>
          <a:solidFill>
            <a:srgbClr val="0093BF"/>
          </a:solidFill>
        </p:spPr>
        <p:txBody>
          <a:bodyPr wrap="square" rtlCol="0">
            <a:spAutoFit/>
          </a:bodyPr>
          <a:lstStyle/>
          <a:p>
            <a:r>
              <a:rPr lang="en-US" dirty="0">
                <a:solidFill>
                  <a:schemeClr val="bg1"/>
                </a:solidFill>
                <a:latin typeface="Georgia" panose="02040502050405020303" pitchFamily="18" charset="0"/>
              </a:rPr>
              <a:t>The service is a unique VAS solution that enables subscribers to track the location of their family members and loved ones. </a:t>
            </a:r>
          </a:p>
          <a:p>
            <a:endParaRPr lang="en-US" dirty="0">
              <a:solidFill>
                <a:schemeClr val="bg1"/>
              </a:solidFill>
              <a:latin typeface="Georgia" panose="02040502050405020303" pitchFamily="18" charset="0"/>
            </a:endParaRPr>
          </a:p>
          <a:p>
            <a:r>
              <a:rPr lang="en-US" dirty="0">
                <a:solidFill>
                  <a:schemeClr val="bg1"/>
                </a:solidFill>
                <a:latin typeface="Georgia" panose="02040502050405020303" pitchFamily="18" charset="0"/>
              </a:rPr>
              <a:t>Using LBS and GPS technologies, the service utilizes mobile phone geolocation data to determine the subscriber’s location on a map in real time. As a result, users can always receive up-to-date information about the whereabouts of their family and friends.</a:t>
            </a:r>
            <a:endParaRPr lang="ru-RU" dirty="0">
              <a:solidFill>
                <a:schemeClr val="bg1"/>
              </a:solidFill>
              <a:latin typeface="Georgia" panose="02040502050405020303" pitchFamily="18" charset="0"/>
            </a:endParaRPr>
          </a:p>
        </p:txBody>
      </p:sp>
      <p:sp>
        <p:nvSpPr>
          <p:cNvPr id="5" name="TextBox 4">
            <a:extLst>
              <a:ext uri="{FF2B5EF4-FFF2-40B4-BE49-F238E27FC236}">
                <a16:creationId xmlns:a16="http://schemas.microsoft.com/office/drawing/2014/main" id="{49D74641-8D8C-A182-18A4-71AF64599A85}"/>
              </a:ext>
            </a:extLst>
          </p:cNvPr>
          <p:cNvSpPr txBox="1"/>
          <p:nvPr/>
        </p:nvSpPr>
        <p:spPr>
          <a:xfrm>
            <a:off x="578073" y="3520269"/>
            <a:ext cx="5348982" cy="2569934"/>
          </a:xfrm>
          <a:prstGeom prst="rect">
            <a:avLst/>
          </a:prstGeom>
          <a:noFill/>
        </p:spPr>
        <p:txBody>
          <a:bodyPr wrap="square">
            <a:spAutoFit/>
          </a:bodyPr>
          <a:lstStyle/>
          <a:p>
            <a:r>
              <a:rPr lang="en-US" sz="2000" b="1" dirty="0">
                <a:solidFill>
                  <a:srgbClr val="0093BF"/>
                </a:solidFill>
                <a:latin typeface="Georgia" panose="02040502050405020303" pitchFamily="18" charset="0"/>
              </a:rPr>
              <a:t>Features:</a:t>
            </a:r>
          </a:p>
          <a:p>
            <a:pPr>
              <a:spcBef>
                <a:spcPts val="600"/>
              </a:spcBef>
              <a:spcAft>
                <a:spcPts val="300"/>
              </a:spcAft>
            </a:pPr>
            <a:r>
              <a:rPr lang="ru-RU" sz="1600" dirty="0">
                <a:solidFill>
                  <a:srgbClr val="0093BF"/>
                </a:solidFill>
                <a:latin typeface="Georgia" panose="02040502050405020303" pitchFamily="18" charset="0"/>
                <a:sym typeface="Symbol" panose="05050102010706020507" pitchFamily="18" charset="2"/>
              </a:rPr>
              <a:t></a:t>
            </a:r>
            <a:r>
              <a:rPr lang="ru-RU" dirty="0">
                <a:solidFill>
                  <a:srgbClr val="0093BF"/>
                </a:solidFill>
                <a:latin typeface="Georgia" panose="02040502050405020303" pitchFamily="18" charset="0"/>
                <a:sym typeface="Symbol" panose="05050102010706020507" pitchFamily="18" charset="2"/>
              </a:rPr>
              <a:t> </a:t>
            </a:r>
            <a:r>
              <a:rPr lang="en-US" dirty="0">
                <a:solidFill>
                  <a:srgbClr val="0093BF"/>
                </a:solidFill>
                <a:latin typeface="Georgia" panose="02040502050405020303" pitchFamily="18" charset="0"/>
                <a:sym typeface="Symbol" panose="05050102010706020507" pitchFamily="18" charset="2"/>
              </a:rPr>
              <a:t> </a:t>
            </a:r>
            <a:r>
              <a:rPr lang="en-US" dirty="0">
                <a:latin typeface="Georgia" panose="02040502050405020303" pitchFamily="18" charset="0"/>
              </a:rPr>
              <a:t>Track the location of up to 3 people</a:t>
            </a:r>
          </a:p>
          <a:p>
            <a:pPr>
              <a:spcAft>
                <a:spcPts val="300"/>
              </a:spcAft>
            </a:pPr>
            <a:r>
              <a:rPr lang="ru-RU" sz="1600" dirty="0">
                <a:solidFill>
                  <a:srgbClr val="0093BF"/>
                </a:solidFill>
                <a:latin typeface="Georgia" panose="02040502050405020303" pitchFamily="18" charset="0"/>
                <a:sym typeface="Symbol" panose="05050102010706020507" pitchFamily="18" charset="2"/>
              </a:rPr>
              <a:t></a:t>
            </a:r>
            <a:r>
              <a:rPr lang="en-US" dirty="0">
                <a:latin typeface="Georgia" panose="02040502050405020303" pitchFamily="18" charset="0"/>
              </a:rPr>
              <a:t>   Make an unlimited number of location tracking requests</a:t>
            </a:r>
          </a:p>
          <a:p>
            <a:pPr>
              <a:spcAft>
                <a:spcPts val="300"/>
              </a:spcAft>
            </a:pPr>
            <a:r>
              <a:rPr lang="ru-RU" sz="1600" dirty="0">
                <a:solidFill>
                  <a:srgbClr val="0093BF"/>
                </a:solidFill>
                <a:latin typeface="Georgia" panose="02040502050405020303" pitchFamily="18" charset="0"/>
                <a:sym typeface="Symbol" panose="05050102010706020507" pitchFamily="18" charset="2"/>
              </a:rPr>
              <a:t></a:t>
            </a:r>
            <a:r>
              <a:rPr lang="en-US" dirty="0">
                <a:latin typeface="Georgia" panose="02040502050405020303" pitchFamily="18" charset="0"/>
              </a:rPr>
              <a:t>   View movement history</a:t>
            </a:r>
          </a:p>
          <a:p>
            <a:pPr>
              <a:spcAft>
                <a:spcPts val="300"/>
              </a:spcAft>
            </a:pPr>
            <a:r>
              <a:rPr lang="ru-RU" sz="1600" dirty="0">
                <a:solidFill>
                  <a:srgbClr val="0093BF"/>
                </a:solidFill>
                <a:latin typeface="Georgia" panose="02040502050405020303" pitchFamily="18" charset="0"/>
                <a:sym typeface="Symbol" panose="05050102010706020507" pitchFamily="18" charset="2"/>
              </a:rPr>
              <a:t></a:t>
            </a:r>
            <a:r>
              <a:rPr lang="en-US" sz="1600" dirty="0">
                <a:latin typeface="Georgia" panose="02040502050405020303" pitchFamily="18" charset="0"/>
              </a:rPr>
              <a:t> </a:t>
            </a:r>
            <a:r>
              <a:rPr lang="en-US" dirty="0">
                <a:latin typeface="Georgia" panose="02040502050405020303" pitchFamily="18" charset="0"/>
              </a:rPr>
              <a:t>  Set zones on the map and receive notifications when entering or leaving them</a:t>
            </a:r>
          </a:p>
          <a:p>
            <a:endParaRPr lang="ru-RU" dirty="0"/>
          </a:p>
        </p:txBody>
      </p:sp>
      <p:pic>
        <p:nvPicPr>
          <p:cNvPr id="10" name="Рисунок 9">
            <a:extLst>
              <a:ext uri="{FF2B5EF4-FFF2-40B4-BE49-F238E27FC236}">
                <a16:creationId xmlns:a16="http://schemas.microsoft.com/office/drawing/2014/main" id="{15DCCDFC-91A4-A944-5A4F-EE09EAA82DED}"/>
              </a:ext>
            </a:extLst>
          </p:cNvPr>
          <p:cNvPicPr>
            <a:picLocks noChangeAspect="1"/>
          </p:cNvPicPr>
          <p:nvPr/>
        </p:nvPicPr>
        <p:blipFill>
          <a:blip r:embed="rId2"/>
          <a:stretch>
            <a:fillRect/>
          </a:stretch>
        </p:blipFill>
        <p:spPr>
          <a:xfrm>
            <a:off x="6788150" y="3735483"/>
            <a:ext cx="1911127" cy="1911127"/>
          </a:xfrm>
          <a:prstGeom prst="rect">
            <a:avLst/>
          </a:prstGeom>
        </p:spPr>
      </p:pic>
    </p:spTree>
    <p:extLst>
      <p:ext uri="{BB962C8B-B14F-4D97-AF65-F5344CB8AC3E}">
        <p14:creationId xmlns:p14="http://schemas.microsoft.com/office/powerpoint/2010/main" val="1434546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idx="4294967295"/>
          </p:nvPr>
        </p:nvSpPr>
        <p:spPr>
          <a:xfrm>
            <a:off x="505633" y="437441"/>
            <a:ext cx="8343796" cy="536605"/>
          </a:xfrm>
        </p:spPr>
        <p:txBody>
          <a:bodyPr>
            <a:noAutofit/>
          </a:bodyPr>
          <a:lstStyle/>
          <a:p>
            <a:pPr algn="l">
              <a:lnSpc>
                <a:spcPct val="50000"/>
              </a:lnSpc>
              <a:spcBef>
                <a:spcPts val="0"/>
              </a:spcBef>
            </a:pPr>
            <a:r>
              <a:rPr lang="en-US" sz="3200" b="1" dirty="0">
                <a:solidFill>
                  <a:srgbClr val="0093BF"/>
                </a:solidFill>
                <a:latin typeface="Georgia" panose="02040502050405020303" pitchFamily="18" charset="0"/>
              </a:rPr>
              <a:t>Why do you need this service</a:t>
            </a:r>
            <a:endParaRPr lang="en-US" sz="3200" b="1" cap="none" dirty="0">
              <a:solidFill>
                <a:srgbClr val="0093BF"/>
              </a:solidFill>
              <a:latin typeface="Georgia" panose="02040502050405020303" pitchFamily="18" charset="0"/>
              <a:cs typeface="Trebuchet MS"/>
            </a:endParaRPr>
          </a:p>
        </p:txBody>
      </p:sp>
      <p:sp>
        <p:nvSpPr>
          <p:cNvPr id="2" name="TextBox 1">
            <a:extLst>
              <a:ext uri="{FF2B5EF4-FFF2-40B4-BE49-F238E27FC236}">
                <a16:creationId xmlns:a16="http://schemas.microsoft.com/office/drawing/2014/main" id="{C68B8F1B-BA65-2754-35EA-2408D50A1252}"/>
              </a:ext>
            </a:extLst>
          </p:cNvPr>
          <p:cNvSpPr txBox="1"/>
          <p:nvPr/>
        </p:nvSpPr>
        <p:spPr>
          <a:xfrm>
            <a:off x="595280" y="1135329"/>
            <a:ext cx="8063904" cy="1200329"/>
          </a:xfrm>
          <a:prstGeom prst="rect">
            <a:avLst/>
          </a:prstGeom>
          <a:solidFill>
            <a:srgbClr val="0093BF"/>
          </a:solidFill>
        </p:spPr>
        <p:txBody>
          <a:bodyPr wrap="square" rtlCol="0">
            <a:spAutoFit/>
          </a:bodyPr>
          <a:lstStyle/>
          <a:p>
            <a:r>
              <a:rPr lang="en-US" dirty="0">
                <a:solidFill>
                  <a:srgbClr val="FFFFFF"/>
                </a:solidFill>
                <a:latin typeface="Georgia" panose="02040502050405020303" pitchFamily="18" charset="0"/>
              </a:rPr>
              <a:t>The service is especially important for parents who want to know where their child is and ensure their safety. Users can also always check the location of the people who are dear and important to them. Those they trust can also see their geolocation. All of this is shown on an accurate map in real time.</a:t>
            </a:r>
            <a:endParaRPr lang="ru-RU" dirty="0">
              <a:solidFill>
                <a:srgbClr val="FFFFFF"/>
              </a:solidFill>
              <a:latin typeface="Georgia" panose="02040502050405020303" pitchFamily="18" charset="0"/>
            </a:endParaRPr>
          </a:p>
        </p:txBody>
      </p:sp>
      <p:sp>
        <p:nvSpPr>
          <p:cNvPr id="3" name="TextBox 2">
            <a:extLst>
              <a:ext uri="{FF2B5EF4-FFF2-40B4-BE49-F238E27FC236}">
                <a16:creationId xmlns:a16="http://schemas.microsoft.com/office/drawing/2014/main" id="{B35BEBDE-61E0-868A-3F06-C8A0A4B61C98}"/>
              </a:ext>
            </a:extLst>
          </p:cNvPr>
          <p:cNvSpPr txBox="1"/>
          <p:nvPr/>
        </p:nvSpPr>
        <p:spPr>
          <a:xfrm>
            <a:off x="595280" y="2908897"/>
            <a:ext cx="8063904" cy="2446824"/>
          </a:xfrm>
          <a:prstGeom prst="rect">
            <a:avLst/>
          </a:prstGeom>
          <a:noFill/>
        </p:spPr>
        <p:txBody>
          <a:bodyPr wrap="square" rtlCol="0">
            <a:spAutoFit/>
          </a:bodyPr>
          <a:lstStyle/>
          <a:p>
            <a:r>
              <a:rPr lang="en-US" sz="2000" b="1" dirty="0">
                <a:solidFill>
                  <a:srgbClr val="0093BF"/>
                </a:solidFill>
                <a:latin typeface="Georgia" panose="02040502050405020303" pitchFamily="18" charset="0"/>
              </a:rPr>
              <a:t>How can you find out where your loved ones are</a:t>
            </a:r>
            <a:endParaRPr lang="ru-RU" sz="2000" b="1" dirty="0">
              <a:solidFill>
                <a:srgbClr val="0093BF"/>
              </a:solidFill>
              <a:latin typeface="Georgia" panose="02040502050405020303" pitchFamily="18" charset="0"/>
            </a:endParaRPr>
          </a:p>
          <a:p>
            <a:pPr>
              <a:spcBef>
                <a:spcPts val="1200"/>
              </a:spcBef>
              <a:spcAft>
                <a:spcPts val="600"/>
              </a:spcAft>
            </a:pPr>
            <a:r>
              <a:rPr lang="en-US" dirty="0">
                <a:latin typeface="Georgia" panose="02040502050405020303" pitchFamily="18" charset="0"/>
              </a:rPr>
              <a:t>The location can be viewed on an interactive map:</a:t>
            </a:r>
            <a:endParaRPr lang="ru-RU" dirty="0"/>
          </a:p>
          <a:p>
            <a:pPr>
              <a:spcAft>
                <a:spcPts val="300"/>
              </a:spcAft>
            </a:pPr>
            <a:r>
              <a:rPr lang="ru-RU" sz="1800" dirty="0">
                <a:solidFill>
                  <a:srgbClr val="0093BF"/>
                </a:solidFill>
                <a:latin typeface="Georgia" panose="02040502050405020303" pitchFamily="18" charset="0"/>
                <a:sym typeface="Symbol" panose="05050102010706020507" pitchFamily="18" charset="2"/>
              </a:rPr>
              <a:t> </a:t>
            </a:r>
            <a:r>
              <a:rPr lang="en-US" sz="1800" dirty="0">
                <a:solidFill>
                  <a:srgbClr val="0093BF"/>
                </a:solidFill>
                <a:latin typeface="Georgia" panose="02040502050405020303" pitchFamily="18" charset="0"/>
                <a:sym typeface="Symbol" panose="05050102010706020507" pitchFamily="18" charset="2"/>
              </a:rPr>
              <a:t> </a:t>
            </a:r>
            <a:r>
              <a:rPr lang="en-US" dirty="0">
                <a:latin typeface="Georgia" panose="02040502050405020303" pitchFamily="18" charset="0"/>
              </a:rPr>
              <a:t>in the </a:t>
            </a:r>
            <a:r>
              <a:rPr lang="en-US" b="1" dirty="0">
                <a:solidFill>
                  <a:srgbClr val="0093BF"/>
                </a:solidFill>
                <a:latin typeface="Georgia" panose="02040502050405020303" pitchFamily="18" charset="0"/>
              </a:rPr>
              <a:t>“Where Are You?”</a:t>
            </a:r>
            <a:r>
              <a:rPr lang="en-US" dirty="0">
                <a:solidFill>
                  <a:srgbClr val="0093BF"/>
                </a:solidFill>
                <a:latin typeface="Georgia" panose="02040502050405020303" pitchFamily="18" charset="0"/>
              </a:rPr>
              <a:t> </a:t>
            </a:r>
            <a:r>
              <a:rPr lang="en-US" dirty="0">
                <a:latin typeface="Georgia" panose="02040502050405020303" pitchFamily="18" charset="0"/>
              </a:rPr>
              <a:t>mobile app;</a:t>
            </a:r>
          </a:p>
          <a:p>
            <a:pPr>
              <a:spcAft>
                <a:spcPts val="300"/>
              </a:spcAft>
            </a:pPr>
            <a:r>
              <a:rPr lang="ru-RU" sz="1800" dirty="0">
                <a:solidFill>
                  <a:srgbClr val="0093BF"/>
                </a:solidFill>
                <a:latin typeface="Georgia" panose="02040502050405020303" pitchFamily="18" charset="0"/>
                <a:sym typeface="Symbol" panose="05050102010706020507" pitchFamily="18" charset="2"/>
              </a:rPr>
              <a:t> </a:t>
            </a:r>
            <a:r>
              <a:rPr lang="en-US" sz="1800" dirty="0">
                <a:solidFill>
                  <a:srgbClr val="0093BF"/>
                </a:solidFill>
                <a:latin typeface="Georgia" panose="02040502050405020303" pitchFamily="18" charset="0"/>
                <a:sym typeface="Symbol" panose="05050102010706020507" pitchFamily="18" charset="2"/>
              </a:rPr>
              <a:t> </a:t>
            </a:r>
            <a:r>
              <a:rPr lang="en-US" dirty="0">
                <a:latin typeface="Georgia" panose="02040502050405020303" pitchFamily="18" charset="0"/>
              </a:rPr>
              <a:t>on the service website.</a:t>
            </a:r>
          </a:p>
          <a:p>
            <a:pPr>
              <a:spcBef>
                <a:spcPts val="600"/>
              </a:spcBef>
            </a:pPr>
            <a:r>
              <a:rPr lang="en-US" sz="1800" dirty="0">
                <a:latin typeface="Georgia" panose="02040502050405020303" pitchFamily="18" charset="0"/>
                <a:sym typeface="Symbol" panose="05050102010706020507" pitchFamily="18" charset="2"/>
              </a:rPr>
              <a:t>I</a:t>
            </a:r>
            <a:r>
              <a:rPr lang="en-US" dirty="0">
                <a:latin typeface="Georgia" panose="02040502050405020303" pitchFamily="18" charset="0"/>
              </a:rPr>
              <a:t>f you need to receive coordinates via SMS, submit a request through the mobile application or contact customer support.</a:t>
            </a:r>
          </a:p>
          <a:p>
            <a:endParaRPr lang="ru-RU" dirty="0"/>
          </a:p>
        </p:txBody>
      </p:sp>
    </p:spTree>
    <p:extLst>
      <p:ext uri="{BB962C8B-B14F-4D97-AF65-F5344CB8AC3E}">
        <p14:creationId xmlns:p14="http://schemas.microsoft.com/office/powerpoint/2010/main" val="1989902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idx="4294967295"/>
          </p:nvPr>
        </p:nvSpPr>
        <p:spPr>
          <a:xfrm>
            <a:off x="505633" y="524665"/>
            <a:ext cx="8343796" cy="536605"/>
          </a:xfrm>
        </p:spPr>
        <p:txBody>
          <a:bodyPr>
            <a:noAutofit/>
          </a:bodyPr>
          <a:lstStyle/>
          <a:p>
            <a:pPr algn="l">
              <a:lnSpc>
                <a:spcPct val="50000"/>
              </a:lnSpc>
              <a:spcBef>
                <a:spcPts val="0"/>
              </a:spcBef>
            </a:pPr>
            <a:r>
              <a:rPr lang="en-US" sz="3200" b="1" dirty="0">
                <a:solidFill>
                  <a:srgbClr val="0093BF"/>
                </a:solidFill>
                <a:latin typeface="Georgia" panose="02040502050405020303" pitchFamily="18" charset="0"/>
              </a:rPr>
              <a:t>How it works</a:t>
            </a:r>
            <a:endParaRPr lang="en-US" sz="3200" b="1" cap="none" dirty="0">
              <a:solidFill>
                <a:srgbClr val="0093BF"/>
              </a:solidFill>
              <a:latin typeface="Georgia" panose="02040502050405020303" pitchFamily="18" charset="0"/>
              <a:cs typeface="Trebuchet MS"/>
            </a:endParaRPr>
          </a:p>
        </p:txBody>
      </p:sp>
      <p:sp>
        <p:nvSpPr>
          <p:cNvPr id="2" name="TextBox 1">
            <a:extLst>
              <a:ext uri="{FF2B5EF4-FFF2-40B4-BE49-F238E27FC236}">
                <a16:creationId xmlns:a16="http://schemas.microsoft.com/office/drawing/2014/main" id="{C68B8F1B-BA65-2754-35EA-2408D50A1252}"/>
              </a:ext>
            </a:extLst>
          </p:cNvPr>
          <p:cNvSpPr txBox="1"/>
          <p:nvPr/>
        </p:nvSpPr>
        <p:spPr>
          <a:xfrm>
            <a:off x="540048" y="1510651"/>
            <a:ext cx="8063904" cy="1946687"/>
          </a:xfrm>
          <a:prstGeom prst="rect">
            <a:avLst/>
          </a:prstGeom>
          <a:solidFill>
            <a:schemeClr val="bg1"/>
          </a:solidFill>
        </p:spPr>
        <p:txBody>
          <a:bodyPr wrap="square" rtlCol="0">
            <a:spAutoFit/>
          </a:bodyPr>
          <a:lstStyle/>
          <a:p>
            <a:r>
              <a:rPr lang="en-US" dirty="0">
                <a:latin typeface="Georgia" panose="02040502050405020303" pitchFamily="18" charset="0"/>
              </a:rPr>
              <a:t>The service flow is simple and transparent:</a:t>
            </a:r>
          </a:p>
          <a:p>
            <a:pPr>
              <a:spcBef>
                <a:spcPts val="600"/>
              </a:spcBef>
              <a:spcAft>
                <a:spcPts val="300"/>
              </a:spcAft>
            </a:pPr>
            <a:r>
              <a:rPr lang="ru-RU" dirty="0">
                <a:solidFill>
                  <a:srgbClr val="0093BF"/>
                </a:solidFill>
                <a:latin typeface="Georgia" panose="02040502050405020303" pitchFamily="18" charset="0"/>
              </a:rPr>
              <a:t>1.</a:t>
            </a:r>
            <a:r>
              <a:rPr lang="en-US" dirty="0">
                <a:solidFill>
                  <a:srgbClr val="0093BF"/>
                </a:solidFill>
                <a:latin typeface="Georgia" panose="02040502050405020303" pitchFamily="18" charset="0"/>
              </a:rPr>
              <a:t>  </a:t>
            </a:r>
            <a:r>
              <a:rPr lang="en-US" dirty="0">
                <a:latin typeface="Georgia" panose="02040502050405020303" pitchFamily="18" charset="0"/>
              </a:rPr>
              <a:t>Subscriber A sends a location request</a:t>
            </a:r>
            <a:r>
              <a:rPr lang="ru-RU" dirty="0">
                <a:latin typeface="Georgia" panose="02040502050405020303" pitchFamily="18" charset="0"/>
              </a:rPr>
              <a:t>.</a:t>
            </a:r>
            <a:endParaRPr lang="en-US" dirty="0">
              <a:latin typeface="Georgia" panose="02040502050405020303" pitchFamily="18" charset="0"/>
            </a:endParaRPr>
          </a:p>
          <a:p>
            <a:pPr>
              <a:spcAft>
                <a:spcPts val="300"/>
              </a:spcAft>
            </a:pPr>
            <a:r>
              <a:rPr lang="ru-RU" dirty="0">
                <a:solidFill>
                  <a:srgbClr val="0093BF"/>
                </a:solidFill>
                <a:latin typeface="Georgia" panose="02040502050405020303" pitchFamily="18" charset="0"/>
              </a:rPr>
              <a:t>2.  </a:t>
            </a:r>
            <a:r>
              <a:rPr lang="en-US" dirty="0">
                <a:latin typeface="Georgia" panose="02040502050405020303" pitchFamily="18" charset="0"/>
              </a:rPr>
              <a:t>Subscriber B confirms consent (opt-in)</a:t>
            </a:r>
            <a:r>
              <a:rPr lang="ru-RU" dirty="0">
                <a:latin typeface="Georgia" panose="02040502050405020303" pitchFamily="18" charset="0"/>
              </a:rPr>
              <a:t>.</a:t>
            </a:r>
            <a:endParaRPr lang="en-US" dirty="0">
              <a:latin typeface="Georgia" panose="02040502050405020303" pitchFamily="18" charset="0"/>
            </a:endParaRPr>
          </a:p>
          <a:p>
            <a:pPr>
              <a:spcAft>
                <a:spcPts val="300"/>
              </a:spcAft>
            </a:pPr>
            <a:r>
              <a:rPr lang="ru-RU" dirty="0">
                <a:solidFill>
                  <a:srgbClr val="0093BF"/>
                </a:solidFill>
                <a:latin typeface="Georgia" panose="02040502050405020303" pitchFamily="18" charset="0"/>
              </a:rPr>
              <a:t>3.  </a:t>
            </a:r>
            <a:r>
              <a:rPr lang="en-US" dirty="0">
                <a:latin typeface="Georgia" panose="02040502050405020303" pitchFamily="18" charset="0"/>
              </a:rPr>
              <a:t>The system determines the location</a:t>
            </a:r>
            <a:r>
              <a:rPr lang="ru-RU" dirty="0">
                <a:latin typeface="Georgia" panose="02040502050405020303" pitchFamily="18" charset="0"/>
              </a:rPr>
              <a:t>.</a:t>
            </a:r>
            <a:endParaRPr lang="en-US" dirty="0">
              <a:latin typeface="Georgia" panose="02040502050405020303" pitchFamily="18" charset="0"/>
            </a:endParaRPr>
          </a:p>
          <a:p>
            <a:pPr>
              <a:spcAft>
                <a:spcPts val="300"/>
              </a:spcAft>
            </a:pPr>
            <a:r>
              <a:rPr lang="ru-RU" dirty="0">
                <a:solidFill>
                  <a:srgbClr val="0093BF"/>
                </a:solidFill>
                <a:latin typeface="Georgia" panose="02040502050405020303" pitchFamily="18" charset="0"/>
              </a:rPr>
              <a:t>4. </a:t>
            </a:r>
            <a:r>
              <a:rPr lang="en-US" dirty="0">
                <a:solidFill>
                  <a:srgbClr val="0093BF"/>
                </a:solidFill>
                <a:latin typeface="Georgia" panose="02040502050405020303" pitchFamily="18" charset="0"/>
              </a:rPr>
              <a:t> </a:t>
            </a:r>
            <a:r>
              <a:rPr lang="en-US" dirty="0">
                <a:latin typeface="Georgia" panose="02040502050405020303" pitchFamily="18" charset="0"/>
              </a:rPr>
              <a:t>Subscriber A receives movement notifications and detailed location information about Subscriber B</a:t>
            </a:r>
            <a:r>
              <a:rPr lang="ru-RU" dirty="0">
                <a:latin typeface="Georgia" panose="02040502050405020303" pitchFamily="18" charset="0"/>
              </a:rPr>
              <a:t>.</a:t>
            </a:r>
            <a:endParaRPr lang="en-US" dirty="0">
              <a:latin typeface="Georgia" panose="02040502050405020303" pitchFamily="18" charset="0"/>
            </a:endParaRPr>
          </a:p>
        </p:txBody>
      </p:sp>
      <p:sp>
        <p:nvSpPr>
          <p:cNvPr id="5" name="TextBox 4">
            <a:extLst>
              <a:ext uri="{FF2B5EF4-FFF2-40B4-BE49-F238E27FC236}">
                <a16:creationId xmlns:a16="http://schemas.microsoft.com/office/drawing/2014/main" id="{0F81F89E-3D84-6643-F869-74A8D0731540}"/>
              </a:ext>
            </a:extLst>
          </p:cNvPr>
          <p:cNvSpPr txBox="1"/>
          <p:nvPr/>
        </p:nvSpPr>
        <p:spPr>
          <a:xfrm>
            <a:off x="505633" y="4064000"/>
            <a:ext cx="4381756" cy="2054409"/>
          </a:xfrm>
          <a:prstGeom prst="rect">
            <a:avLst/>
          </a:prstGeom>
          <a:noFill/>
        </p:spPr>
        <p:txBody>
          <a:bodyPr wrap="square" rtlCol="0">
            <a:spAutoFit/>
          </a:bodyPr>
          <a:lstStyle/>
          <a:p>
            <a:pPr>
              <a:spcAft>
                <a:spcPts val="1200"/>
              </a:spcAft>
            </a:pPr>
            <a:r>
              <a:rPr lang="en-US" sz="2400" b="1" dirty="0">
                <a:solidFill>
                  <a:srgbClr val="0093BF"/>
                </a:solidFill>
                <a:latin typeface="Georgia" panose="02040502050405020303" pitchFamily="18" charset="0"/>
              </a:rPr>
              <a:t>How to activate</a:t>
            </a:r>
          </a:p>
          <a:p>
            <a:pPr>
              <a:spcAft>
                <a:spcPts val="300"/>
              </a:spcAft>
            </a:pPr>
            <a:r>
              <a:rPr lang="ru-RU" sz="1700" dirty="0">
                <a:solidFill>
                  <a:srgbClr val="0093BF"/>
                </a:solidFill>
                <a:latin typeface="Georgia" panose="02040502050405020303" pitchFamily="18" charset="0"/>
                <a:sym typeface="Symbol" panose="05050102010706020507" pitchFamily="18" charset="2"/>
              </a:rPr>
              <a:t> </a:t>
            </a:r>
            <a:r>
              <a:rPr lang="en-US" sz="1700" dirty="0">
                <a:solidFill>
                  <a:srgbClr val="0093BF"/>
                </a:solidFill>
                <a:latin typeface="Georgia" panose="02040502050405020303" pitchFamily="18" charset="0"/>
                <a:sym typeface="Symbol" panose="05050102010706020507" pitchFamily="18" charset="2"/>
              </a:rPr>
              <a:t> </a:t>
            </a:r>
            <a:r>
              <a:rPr lang="en-US" sz="1700" dirty="0">
                <a:latin typeface="Georgia" panose="02040502050405020303" pitchFamily="18" charset="0"/>
              </a:rPr>
              <a:t>On the service website</a:t>
            </a:r>
          </a:p>
          <a:p>
            <a:pPr>
              <a:spcAft>
                <a:spcPts val="300"/>
              </a:spcAft>
            </a:pPr>
            <a:r>
              <a:rPr lang="ru-RU" sz="1700" dirty="0">
                <a:solidFill>
                  <a:srgbClr val="0093BF"/>
                </a:solidFill>
                <a:latin typeface="Georgia" panose="02040502050405020303" pitchFamily="18" charset="0"/>
                <a:sym typeface="Symbol" panose="05050102010706020507" pitchFamily="18" charset="2"/>
              </a:rPr>
              <a:t> </a:t>
            </a:r>
            <a:r>
              <a:rPr lang="en-US" sz="1700" dirty="0">
                <a:solidFill>
                  <a:srgbClr val="0093BF"/>
                </a:solidFill>
                <a:latin typeface="Georgia" panose="02040502050405020303" pitchFamily="18" charset="0"/>
                <a:sym typeface="Symbol" panose="05050102010706020507" pitchFamily="18" charset="2"/>
              </a:rPr>
              <a:t> </a:t>
            </a:r>
            <a:r>
              <a:rPr lang="en-US" sz="1700" dirty="0">
                <a:latin typeface="Georgia" panose="02040502050405020303" pitchFamily="18" charset="0"/>
              </a:rPr>
              <a:t>Using the USSD code </a:t>
            </a:r>
            <a:r>
              <a:rPr lang="en-US" sz="1700" b="1" dirty="0">
                <a:latin typeface="Georgia" panose="02040502050405020303" pitchFamily="18" charset="0"/>
              </a:rPr>
              <a:t>*</a:t>
            </a:r>
            <a:r>
              <a:rPr lang="ru-RU" sz="1700" b="1" dirty="0">
                <a:latin typeface="Georgia" panose="02040502050405020303" pitchFamily="18" charset="0"/>
              </a:rPr>
              <a:t>ХХХ</a:t>
            </a:r>
            <a:r>
              <a:rPr lang="en-US" sz="1700" b="1" dirty="0">
                <a:latin typeface="Georgia" panose="02040502050405020303" pitchFamily="18" charset="0"/>
              </a:rPr>
              <a:t>#</a:t>
            </a:r>
            <a:endParaRPr lang="en-US" sz="1700" dirty="0">
              <a:latin typeface="Georgia" panose="02040502050405020303" pitchFamily="18" charset="0"/>
            </a:endParaRPr>
          </a:p>
          <a:p>
            <a:pPr>
              <a:spcAft>
                <a:spcPts val="300"/>
              </a:spcAft>
            </a:pPr>
            <a:r>
              <a:rPr lang="ru-RU" sz="1700" dirty="0">
                <a:solidFill>
                  <a:srgbClr val="0093BF"/>
                </a:solidFill>
                <a:latin typeface="Georgia" panose="02040502050405020303" pitchFamily="18" charset="0"/>
                <a:sym typeface="Symbol" panose="05050102010706020507" pitchFamily="18" charset="2"/>
              </a:rPr>
              <a:t> </a:t>
            </a:r>
            <a:r>
              <a:rPr lang="en-US" sz="1700" dirty="0">
                <a:solidFill>
                  <a:srgbClr val="0093BF"/>
                </a:solidFill>
                <a:latin typeface="Georgia" panose="02040502050405020303" pitchFamily="18" charset="0"/>
                <a:sym typeface="Symbol" panose="05050102010706020507" pitchFamily="18" charset="2"/>
              </a:rPr>
              <a:t> </a:t>
            </a:r>
            <a:r>
              <a:rPr lang="en-US" sz="1700" dirty="0">
                <a:latin typeface="Georgia" panose="02040502050405020303" pitchFamily="18" charset="0"/>
              </a:rPr>
              <a:t>By sending an SMS with the text </a:t>
            </a:r>
            <a:r>
              <a:rPr lang="en-US" sz="1700" b="1" dirty="0">
                <a:latin typeface="Georgia" panose="02040502050405020303" pitchFamily="18" charset="0"/>
              </a:rPr>
              <a:t>“On”</a:t>
            </a:r>
            <a:r>
              <a:rPr lang="en-US" sz="1700" dirty="0">
                <a:latin typeface="Georgia" panose="02040502050405020303" pitchFamily="18" charset="0"/>
              </a:rPr>
              <a:t> to </a:t>
            </a:r>
            <a:r>
              <a:rPr lang="ru-RU" sz="1700" b="1" dirty="0">
                <a:latin typeface="Georgia" panose="02040502050405020303" pitchFamily="18" charset="0"/>
              </a:rPr>
              <a:t>ХХХХ</a:t>
            </a:r>
            <a:endParaRPr lang="en-US" sz="1700" dirty="0">
              <a:latin typeface="Georgia" panose="02040502050405020303" pitchFamily="18" charset="0"/>
            </a:endParaRPr>
          </a:p>
          <a:p>
            <a:endParaRPr lang="ru-RU" dirty="0"/>
          </a:p>
        </p:txBody>
      </p:sp>
      <p:sp>
        <p:nvSpPr>
          <p:cNvPr id="6" name="TextBox 5">
            <a:extLst>
              <a:ext uri="{FF2B5EF4-FFF2-40B4-BE49-F238E27FC236}">
                <a16:creationId xmlns:a16="http://schemas.microsoft.com/office/drawing/2014/main" id="{18A4E290-72AA-2A43-5E41-E9C524F4F38F}"/>
              </a:ext>
            </a:extLst>
          </p:cNvPr>
          <p:cNvSpPr txBox="1"/>
          <p:nvPr/>
        </p:nvSpPr>
        <p:spPr>
          <a:xfrm>
            <a:off x="5148871" y="4095750"/>
            <a:ext cx="3921486" cy="2092881"/>
          </a:xfrm>
          <a:prstGeom prst="rect">
            <a:avLst/>
          </a:prstGeom>
          <a:noFill/>
        </p:spPr>
        <p:txBody>
          <a:bodyPr wrap="square" rtlCol="0">
            <a:spAutoFit/>
          </a:bodyPr>
          <a:lstStyle/>
          <a:p>
            <a:pPr>
              <a:spcAft>
                <a:spcPts val="1200"/>
              </a:spcAft>
            </a:pPr>
            <a:r>
              <a:rPr lang="en-US" sz="2400" b="1" dirty="0">
                <a:solidFill>
                  <a:srgbClr val="0093BF"/>
                </a:solidFill>
                <a:latin typeface="Georgia" panose="02040502050405020303" pitchFamily="18" charset="0"/>
              </a:rPr>
              <a:t>How to deactivate</a:t>
            </a:r>
            <a:endParaRPr lang="en-US" sz="2400" dirty="0">
              <a:solidFill>
                <a:srgbClr val="0093BF"/>
              </a:solidFill>
              <a:latin typeface="Georgia" panose="02040502050405020303" pitchFamily="18" charset="0"/>
            </a:endParaRPr>
          </a:p>
          <a:p>
            <a:pPr>
              <a:spcAft>
                <a:spcPts val="300"/>
              </a:spcAft>
            </a:pPr>
            <a:r>
              <a:rPr lang="ru-RU" sz="1700" dirty="0">
                <a:solidFill>
                  <a:srgbClr val="0093BF"/>
                </a:solidFill>
                <a:latin typeface="Georgia" panose="02040502050405020303" pitchFamily="18" charset="0"/>
                <a:sym typeface="Symbol" panose="05050102010706020507" pitchFamily="18" charset="2"/>
              </a:rPr>
              <a:t> </a:t>
            </a:r>
            <a:r>
              <a:rPr lang="en-US" sz="1700" dirty="0">
                <a:solidFill>
                  <a:srgbClr val="0093BF"/>
                </a:solidFill>
                <a:latin typeface="Georgia" panose="02040502050405020303" pitchFamily="18" charset="0"/>
                <a:sym typeface="Symbol" panose="05050102010706020507" pitchFamily="18" charset="2"/>
              </a:rPr>
              <a:t> </a:t>
            </a:r>
            <a:r>
              <a:rPr lang="en-US" sz="1700" dirty="0">
                <a:latin typeface="Georgia" panose="02040502050405020303" pitchFamily="18" charset="0"/>
              </a:rPr>
              <a:t>Dial </a:t>
            </a:r>
            <a:r>
              <a:rPr lang="en-US" sz="1700" b="1" dirty="0">
                <a:latin typeface="Georgia" panose="02040502050405020303" pitchFamily="18" charset="0"/>
              </a:rPr>
              <a:t>*</a:t>
            </a:r>
            <a:r>
              <a:rPr lang="ru-RU" sz="1700" b="1" dirty="0">
                <a:latin typeface="Georgia" panose="02040502050405020303" pitchFamily="18" charset="0"/>
              </a:rPr>
              <a:t>ХХХ</a:t>
            </a:r>
            <a:r>
              <a:rPr lang="en-US" sz="1700" b="1" dirty="0">
                <a:latin typeface="Georgia" panose="02040502050405020303" pitchFamily="18" charset="0"/>
              </a:rPr>
              <a:t>#</a:t>
            </a:r>
            <a:r>
              <a:rPr lang="en-US" sz="1700" dirty="0">
                <a:latin typeface="Georgia" panose="02040502050405020303" pitchFamily="18" charset="0"/>
              </a:rPr>
              <a:t> and select </a:t>
            </a:r>
            <a:r>
              <a:rPr lang="en-US" sz="1700" b="1" dirty="0">
                <a:latin typeface="Georgia" panose="02040502050405020303" pitchFamily="18" charset="0"/>
              </a:rPr>
              <a:t>“Deactivate”</a:t>
            </a:r>
            <a:endParaRPr lang="en-US" sz="1700" dirty="0">
              <a:latin typeface="Georgia" panose="02040502050405020303" pitchFamily="18" charset="0"/>
            </a:endParaRPr>
          </a:p>
          <a:p>
            <a:pPr>
              <a:spcAft>
                <a:spcPts val="300"/>
              </a:spcAft>
            </a:pPr>
            <a:r>
              <a:rPr lang="ru-RU" sz="1700" dirty="0">
                <a:solidFill>
                  <a:srgbClr val="0093BF"/>
                </a:solidFill>
                <a:latin typeface="Georgia" panose="02040502050405020303" pitchFamily="18" charset="0"/>
                <a:sym typeface="Symbol" panose="05050102010706020507" pitchFamily="18" charset="2"/>
              </a:rPr>
              <a:t> </a:t>
            </a:r>
            <a:r>
              <a:rPr lang="en-US" sz="1700" dirty="0">
                <a:latin typeface="Georgia" panose="02040502050405020303" pitchFamily="18" charset="0"/>
              </a:rPr>
              <a:t>Send an SMS with the text </a:t>
            </a:r>
            <a:r>
              <a:rPr lang="en-US" sz="1700" b="1" dirty="0">
                <a:latin typeface="Georgia" panose="02040502050405020303" pitchFamily="18" charset="0"/>
              </a:rPr>
              <a:t>“OFF”</a:t>
            </a:r>
            <a:r>
              <a:rPr lang="en-US" sz="1700" dirty="0">
                <a:latin typeface="Georgia" panose="02040502050405020303" pitchFamily="18" charset="0"/>
              </a:rPr>
              <a:t> to </a:t>
            </a:r>
            <a:r>
              <a:rPr lang="ru-RU" sz="1700" b="1" dirty="0">
                <a:latin typeface="Georgia" panose="02040502050405020303" pitchFamily="18" charset="0"/>
              </a:rPr>
              <a:t>ХХХХ</a:t>
            </a:r>
            <a:endParaRPr lang="en-US" sz="1700" dirty="0">
              <a:latin typeface="Georgia" panose="02040502050405020303" pitchFamily="18" charset="0"/>
            </a:endParaRPr>
          </a:p>
          <a:p>
            <a:endParaRPr lang="ru-RU" dirty="0"/>
          </a:p>
        </p:txBody>
      </p:sp>
      <p:pic>
        <p:nvPicPr>
          <p:cNvPr id="9" name="Рисунок 8">
            <a:extLst>
              <a:ext uri="{FF2B5EF4-FFF2-40B4-BE49-F238E27FC236}">
                <a16:creationId xmlns:a16="http://schemas.microsoft.com/office/drawing/2014/main" id="{15635AC8-0013-03DF-501E-F9D62D91A95B}"/>
              </a:ext>
            </a:extLst>
          </p:cNvPr>
          <p:cNvPicPr>
            <a:picLocks noChangeAspect="1"/>
          </p:cNvPicPr>
          <p:nvPr/>
        </p:nvPicPr>
        <p:blipFill>
          <a:blip r:embed="rId2"/>
          <a:stretch>
            <a:fillRect/>
          </a:stretch>
        </p:blipFill>
        <p:spPr>
          <a:xfrm>
            <a:off x="5671861" y="1061270"/>
            <a:ext cx="3220171" cy="1575084"/>
          </a:xfrm>
          <a:prstGeom prst="rect">
            <a:avLst/>
          </a:prstGeom>
        </p:spPr>
      </p:pic>
    </p:spTree>
    <p:extLst>
      <p:ext uri="{BB962C8B-B14F-4D97-AF65-F5344CB8AC3E}">
        <p14:creationId xmlns:p14="http://schemas.microsoft.com/office/powerpoint/2010/main" val="1482669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idx="4294967295"/>
          </p:nvPr>
        </p:nvSpPr>
        <p:spPr>
          <a:xfrm>
            <a:off x="511769" y="540797"/>
            <a:ext cx="7697697" cy="236690"/>
          </a:xfrm>
        </p:spPr>
        <p:txBody>
          <a:bodyPr>
            <a:noAutofit/>
          </a:bodyPr>
          <a:lstStyle/>
          <a:p>
            <a:pPr algn="l">
              <a:lnSpc>
                <a:spcPct val="50000"/>
              </a:lnSpc>
              <a:spcBef>
                <a:spcPts val="0"/>
              </a:spcBef>
            </a:pPr>
            <a:r>
              <a:rPr lang="en-US" sz="3200" b="1" dirty="0">
                <a:solidFill>
                  <a:srgbClr val="0093BF"/>
                </a:solidFill>
                <a:latin typeface="Georgia" panose="02040502050405020303" pitchFamily="18" charset="0"/>
              </a:rPr>
              <a:t>Benefits for Subscribers</a:t>
            </a:r>
            <a:endParaRPr lang="en-US" sz="3200" b="1" cap="none" dirty="0">
              <a:solidFill>
                <a:srgbClr val="0093BF"/>
              </a:solidFill>
              <a:latin typeface="Georgia" panose="02040502050405020303" pitchFamily="18" charset="0"/>
              <a:cs typeface="Trebuchet MS"/>
            </a:endParaRPr>
          </a:p>
        </p:txBody>
      </p:sp>
      <p:sp>
        <p:nvSpPr>
          <p:cNvPr id="6" name="TextBox 5">
            <a:extLst>
              <a:ext uri="{FF2B5EF4-FFF2-40B4-BE49-F238E27FC236}">
                <a16:creationId xmlns:a16="http://schemas.microsoft.com/office/drawing/2014/main" id="{6F9DF13F-9FDB-4443-12DF-8826D5AFC358}"/>
              </a:ext>
            </a:extLst>
          </p:cNvPr>
          <p:cNvSpPr txBox="1"/>
          <p:nvPr/>
        </p:nvSpPr>
        <p:spPr>
          <a:xfrm>
            <a:off x="632102" y="1184424"/>
            <a:ext cx="5455715" cy="1000274"/>
          </a:xfrm>
          <a:prstGeom prst="rect">
            <a:avLst/>
          </a:prstGeom>
          <a:noFill/>
        </p:spPr>
        <p:txBody>
          <a:bodyPr wrap="square" rtlCol="0">
            <a:spAutoFit/>
          </a:bodyPr>
          <a:lstStyle/>
          <a:p>
            <a:pPr>
              <a:spcAft>
                <a:spcPts val="300"/>
              </a:spcAft>
            </a:pPr>
            <a:r>
              <a:rPr lang="ru-RU" sz="1800" dirty="0">
                <a:solidFill>
                  <a:srgbClr val="0093BF"/>
                </a:solidFill>
                <a:latin typeface="Georgia" panose="02040502050405020303" pitchFamily="18" charset="0"/>
                <a:sym typeface="Symbol" panose="05050102010706020507" pitchFamily="18" charset="2"/>
              </a:rPr>
              <a:t> </a:t>
            </a:r>
            <a:r>
              <a:rPr lang="en-US" sz="1800" dirty="0">
                <a:solidFill>
                  <a:srgbClr val="0093BF"/>
                </a:solidFill>
                <a:latin typeface="Georgia" panose="02040502050405020303" pitchFamily="18" charset="0"/>
                <a:sym typeface="Symbol" panose="05050102010706020507" pitchFamily="18" charset="2"/>
              </a:rPr>
              <a:t> </a:t>
            </a:r>
            <a:r>
              <a:rPr lang="en-US" dirty="0">
                <a:latin typeface="Georgia" panose="02040502050405020303" pitchFamily="18" charset="0"/>
              </a:rPr>
              <a:t>easy and secure to use;</a:t>
            </a:r>
          </a:p>
          <a:p>
            <a:pPr>
              <a:spcAft>
                <a:spcPts val="300"/>
              </a:spcAft>
            </a:pPr>
            <a:r>
              <a:rPr lang="ru-RU" sz="1800" dirty="0">
                <a:solidFill>
                  <a:srgbClr val="0093BF"/>
                </a:solidFill>
                <a:latin typeface="Georgia" panose="02040502050405020303" pitchFamily="18" charset="0"/>
                <a:sym typeface="Symbol" panose="05050102010706020507" pitchFamily="18" charset="2"/>
              </a:rPr>
              <a:t> </a:t>
            </a:r>
            <a:r>
              <a:rPr lang="en-US" sz="1800" dirty="0">
                <a:solidFill>
                  <a:srgbClr val="0093BF"/>
                </a:solidFill>
                <a:latin typeface="Georgia" panose="02040502050405020303" pitchFamily="18" charset="0"/>
                <a:sym typeface="Symbol" panose="05050102010706020507" pitchFamily="18" charset="2"/>
              </a:rPr>
              <a:t> </a:t>
            </a:r>
            <a:r>
              <a:rPr lang="en-US" dirty="0">
                <a:latin typeface="Georgia" panose="02040502050405020303" pitchFamily="18" charset="0"/>
              </a:rPr>
              <a:t>works on any mobile phone;</a:t>
            </a:r>
          </a:p>
          <a:p>
            <a:pPr>
              <a:spcAft>
                <a:spcPts val="300"/>
              </a:spcAft>
            </a:pPr>
            <a:r>
              <a:rPr lang="ru-RU" sz="1800" dirty="0">
                <a:solidFill>
                  <a:srgbClr val="0093BF"/>
                </a:solidFill>
                <a:latin typeface="Georgia" panose="02040502050405020303" pitchFamily="18" charset="0"/>
                <a:sym typeface="Symbol" panose="05050102010706020507" pitchFamily="18" charset="2"/>
              </a:rPr>
              <a:t> </a:t>
            </a:r>
            <a:r>
              <a:rPr lang="en-US" sz="1800" dirty="0">
                <a:solidFill>
                  <a:srgbClr val="0093BF"/>
                </a:solidFill>
                <a:latin typeface="Georgia" panose="02040502050405020303" pitchFamily="18" charset="0"/>
                <a:sym typeface="Symbol" panose="05050102010706020507" pitchFamily="18" charset="2"/>
              </a:rPr>
              <a:t> </a:t>
            </a:r>
            <a:r>
              <a:rPr lang="en-US" dirty="0">
                <a:latin typeface="Georgia" panose="02040502050405020303" pitchFamily="18" charset="0"/>
              </a:rPr>
              <a:t>full user control.</a:t>
            </a:r>
            <a:endParaRPr lang="ru-RU" dirty="0">
              <a:latin typeface="Georgia" panose="02040502050405020303" pitchFamily="18" charset="0"/>
            </a:endParaRPr>
          </a:p>
        </p:txBody>
      </p:sp>
      <p:sp>
        <p:nvSpPr>
          <p:cNvPr id="8" name="TextBox 7">
            <a:extLst>
              <a:ext uri="{FF2B5EF4-FFF2-40B4-BE49-F238E27FC236}">
                <a16:creationId xmlns:a16="http://schemas.microsoft.com/office/drawing/2014/main" id="{8DA3D6EC-BEBE-50D2-B7D4-FBE253E8F250}"/>
              </a:ext>
            </a:extLst>
          </p:cNvPr>
          <p:cNvSpPr txBox="1"/>
          <p:nvPr/>
        </p:nvSpPr>
        <p:spPr>
          <a:xfrm>
            <a:off x="511769" y="2737063"/>
            <a:ext cx="6897890" cy="584775"/>
          </a:xfrm>
          <a:prstGeom prst="rect">
            <a:avLst/>
          </a:prstGeom>
          <a:noFill/>
        </p:spPr>
        <p:txBody>
          <a:bodyPr wrap="square" rtlCol="0">
            <a:spAutoFit/>
          </a:bodyPr>
          <a:lstStyle/>
          <a:p>
            <a:r>
              <a:rPr lang="en-US" sz="3200" b="1" dirty="0">
                <a:solidFill>
                  <a:srgbClr val="0093BF"/>
                </a:solidFill>
                <a:latin typeface="Georgia" panose="02040502050405020303" pitchFamily="18" charset="0"/>
              </a:rPr>
              <a:t>Benefits for Mobile Operator</a:t>
            </a:r>
            <a:endParaRPr lang="ru-RU" sz="3200" b="1" dirty="0">
              <a:solidFill>
                <a:srgbClr val="0093BF"/>
              </a:solidFill>
              <a:latin typeface="Georgia" panose="02040502050405020303" pitchFamily="18" charset="0"/>
            </a:endParaRPr>
          </a:p>
        </p:txBody>
      </p:sp>
      <p:sp>
        <p:nvSpPr>
          <p:cNvPr id="9" name="TextBox 8">
            <a:extLst>
              <a:ext uri="{FF2B5EF4-FFF2-40B4-BE49-F238E27FC236}">
                <a16:creationId xmlns:a16="http://schemas.microsoft.com/office/drawing/2014/main" id="{7F05221B-4A68-6AFB-DB9F-90842AB6F18B}"/>
              </a:ext>
            </a:extLst>
          </p:cNvPr>
          <p:cNvSpPr txBox="1"/>
          <p:nvPr/>
        </p:nvSpPr>
        <p:spPr>
          <a:xfrm>
            <a:off x="632102" y="3620779"/>
            <a:ext cx="5891436" cy="1315745"/>
          </a:xfrm>
          <a:prstGeom prst="rect">
            <a:avLst/>
          </a:prstGeom>
          <a:noFill/>
        </p:spPr>
        <p:txBody>
          <a:bodyPr wrap="square" rtlCol="0">
            <a:spAutoFit/>
          </a:bodyPr>
          <a:lstStyle/>
          <a:p>
            <a:pPr>
              <a:spcAft>
                <a:spcPts val="300"/>
              </a:spcAft>
            </a:pPr>
            <a:r>
              <a:rPr lang="ru-RU" sz="1800" dirty="0">
                <a:solidFill>
                  <a:srgbClr val="0093BF"/>
                </a:solidFill>
                <a:latin typeface="Georgia" panose="02040502050405020303" pitchFamily="18" charset="0"/>
                <a:sym typeface="Symbol" panose="05050102010706020507" pitchFamily="18" charset="2"/>
              </a:rPr>
              <a:t></a:t>
            </a:r>
            <a:r>
              <a:rPr lang="en-US" sz="1800" dirty="0">
                <a:solidFill>
                  <a:srgbClr val="0093BF"/>
                </a:solidFill>
                <a:latin typeface="Georgia" panose="02040502050405020303" pitchFamily="18" charset="0"/>
                <a:sym typeface="Symbol" panose="05050102010706020507" pitchFamily="18" charset="2"/>
              </a:rPr>
              <a:t>  </a:t>
            </a:r>
            <a:r>
              <a:rPr lang="en-US" dirty="0">
                <a:latin typeface="Georgia" panose="02040502050405020303" pitchFamily="18" charset="0"/>
              </a:rPr>
              <a:t>additional </a:t>
            </a:r>
            <a:r>
              <a:rPr lang="en-US" b="1" dirty="0">
                <a:solidFill>
                  <a:srgbClr val="0093BF"/>
                </a:solidFill>
                <a:latin typeface="Georgia" panose="02040502050405020303" pitchFamily="18" charset="0"/>
              </a:rPr>
              <a:t>subscription-based revenue</a:t>
            </a:r>
            <a:r>
              <a:rPr lang="en-US" dirty="0">
                <a:latin typeface="Georgia" panose="02040502050405020303" pitchFamily="18" charset="0"/>
              </a:rPr>
              <a:t>;</a:t>
            </a:r>
          </a:p>
          <a:p>
            <a:pPr>
              <a:spcAft>
                <a:spcPts val="300"/>
              </a:spcAft>
            </a:pPr>
            <a:r>
              <a:rPr lang="ru-RU" sz="1800" dirty="0">
                <a:solidFill>
                  <a:srgbClr val="0093BF"/>
                </a:solidFill>
                <a:latin typeface="Georgia" panose="02040502050405020303" pitchFamily="18" charset="0"/>
                <a:sym typeface="Symbol" panose="05050102010706020507" pitchFamily="18" charset="2"/>
              </a:rPr>
              <a:t> </a:t>
            </a:r>
            <a:r>
              <a:rPr lang="en-US" sz="1800" dirty="0">
                <a:solidFill>
                  <a:srgbClr val="0093BF"/>
                </a:solidFill>
                <a:latin typeface="Georgia" panose="02040502050405020303" pitchFamily="18" charset="0"/>
                <a:sym typeface="Symbol" panose="05050102010706020507" pitchFamily="18" charset="2"/>
              </a:rPr>
              <a:t> </a:t>
            </a:r>
            <a:r>
              <a:rPr lang="en-US" dirty="0">
                <a:latin typeface="Georgia" panose="02040502050405020303" pitchFamily="18" charset="0"/>
              </a:rPr>
              <a:t>increased customer loyalty and retention;</a:t>
            </a:r>
          </a:p>
          <a:p>
            <a:pPr>
              <a:spcAft>
                <a:spcPts val="300"/>
              </a:spcAft>
            </a:pPr>
            <a:r>
              <a:rPr lang="ru-RU" sz="1800" dirty="0">
                <a:solidFill>
                  <a:srgbClr val="0093BF"/>
                </a:solidFill>
                <a:latin typeface="Georgia" panose="02040502050405020303" pitchFamily="18" charset="0"/>
                <a:sym typeface="Symbol" panose="05050102010706020507" pitchFamily="18" charset="2"/>
              </a:rPr>
              <a:t> </a:t>
            </a:r>
            <a:r>
              <a:rPr lang="en-US" sz="1800" dirty="0">
                <a:solidFill>
                  <a:srgbClr val="0093BF"/>
                </a:solidFill>
                <a:latin typeface="Georgia" panose="02040502050405020303" pitchFamily="18" charset="0"/>
                <a:sym typeface="Symbol" panose="05050102010706020507" pitchFamily="18" charset="2"/>
              </a:rPr>
              <a:t> </a:t>
            </a:r>
            <a:r>
              <a:rPr lang="en-US" dirty="0">
                <a:latin typeface="Georgia" panose="02040502050405020303" pitchFamily="18" charset="0"/>
              </a:rPr>
              <a:t>mass-market product with clear value proposition;</a:t>
            </a:r>
          </a:p>
          <a:p>
            <a:pPr>
              <a:spcAft>
                <a:spcPts val="300"/>
              </a:spcAft>
            </a:pPr>
            <a:r>
              <a:rPr lang="ru-RU" sz="1800" dirty="0">
                <a:solidFill>
                  <a:srgbClr val="0093BF"/>
                </a:solidFill>
                <a:latin typeface="Georgia" panose="02040502050405020303" pitchFamily="18" charset="0"/>
                <a:sym typeface="Symbol" panose="05050102010706020507" pitchFamily="18" charset="2"/>
              </a:rPr>
              <a:t> </a:t>
            </a:r>
            <a:r>
              <a:rPr lang="en-US" sz="1800" dirty="0">
                <a:solidFill>
                  <a:srgbClr val="0093BF"/>
                </a:solidFill>
                <a:latin typeface="Georgia" panose="02040502050405020303" pitchFamily="18" charset="0"/>
                <a:sym typeface="Symbol" panose="05050102010706020507" pitchFamily="18" charset="2"/>
              </a:rPr>
              <a:t> </a:t>
            </a:r>
            <a:r>
              <a:rPr lang="en-US" dirty="0">
                <a:latin typeface="Georgia" panose="02040502050405020303" pitchFamily="18" charset="0"/>
              </a:rPr>
              <a:t>low operational and regulatory risks.</a:t>
            </a:r>
            <a:endParaRPr lang="ru-RU" dirty="0">
              <a:latin typeface="Georgia" panose="02040502050405020303" pitchFamily="18" charset="0"/>
            </a:endParaRPr>
          </a:p>
        </p:txBody>
      </p:sp>
      <p:pic>
        <p:nvPicPr>
          <p:cNvPr id="15" name="Рисунок 14">
            <a:extLst>
              <a:ext uri="{FF2B5EF4-FFF2-40B4-BE49-F238E27FC236}">
                <a16:creationId xmlns:a16="http://schemas.microsoft.com/office/drawing/2014/main" id="{E134E614-2E05-4921-C971-53AA82613A4B}"/>
              </a:ext>
            </a:extLst>
          </p:cNvPr>
          <p:cNvPicPr>
            <a:picLocks noChangeAspect="1"/>
          </p:cNvPicPr>
          <p:nvPr/>
        </p:nvPicPr>
        <p:blipFill>
          <a:blip r:embed="rId2"/>
          <a:stretch>
            <a:fillRect/>
          </a:stretch>
        </p:blipFill>
        <p:spPr>
          <a:xfrm>
            <a:off x="4126861" y="5602487"/>
            <a:ext cx="714716" cy="714716"/>
          </a:xfrm>
          <a:prstGeom prst="rect">
            <a:avLst/>
          </a:prstGeom>
        </p:spPr>
      </p:pic>
      <p:pic>
        <p:nvPicPr>
          <p:cNvPr id="16" name="Рисунок 15">
            <a:extLst>
              <a:ext uri="{FF2B5EF4-FFF2-40B4-BE49-F238E27FC236}">
                <a16:creationId xmlns:a16="http://schemas.microsoft.com/office/drawing/2014/main" id="{76AC27ED-EDD3-75BA-D6C3-61529AA48BD3}"/>
              </a:ext>
            </a:extLst>
          </p:cNvPr>
          <p:cNvPicPr>
            <a:picLocks noChangeAspect="1"/>
          </p:cNvPicPr>
          <p:nvPr/>
        </p:nvPicPr>
        <p:blipFill>
          <a:blip r:embed="rId2"/>
          <a:stretch>
            <a:fillRect/>
          </a:stretch>
        </p:blipFill>
        <p:spPr>
          <a:xfrm>
            <a:off x="2308471" y="5598200"/>
            <a:ext cx="719003" cy="719003"/>
          </a:xfrm>
          <a:prstGeom prst="rect">
            <a:avLst/>
          </a:prstGeom>
        </p:spPr>
      </p:pic>
      <p:pic>
        <p:nvPicPr>
          <p:cNvPr id="17" name="Рисунок 16">
            <a:extLst>
              <a:ext uri="{FF2B5EF4-FFF2-40B4-BE49-F238E27FC236}">
                <a16:creationId xmlns:a16="http://schemas.microsoft.com/office/drawing/2014/main" id="{B3E936EA-5D74-A232-9784-D896678C7482}"/>
              </a:ext>
            </a:extLst>
          </p:cNvPr>
          <p:cNvPicPr>
            <a:picLocks noChangeAspect="1"/>
          </p:cNvPicPr>
          <p:nvPr/>
        </p:nvPicPr>
        <p:blipFill>
          <a:blip r:embed="rId2"/>
          <a:stretch>
            <a:fillRect/>
          </a:stretch>
        </p:blipFill>
        <p:spPr>
          <a:xfrm>
            <a:off x="5940964" y="5602487"/>
            <a:ext cx="719004" cy="719004"/>
          </a:xfrm>
          <a:prstGeom prst="rect">
            <a:avLst/>
          </a:prstGeom>
        </p:spPr>
      </p:pic>
    </p:spTree>
    <p:extLst>
      <p:ext uri="{BB962C8B-B14F-4D97-AF65-F5344CB8AC3E}">
        <p14:creationId xmlns:p14="http://schemas.microsoft.com/office/powerpoint/2010/main" val="3092613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idx="4294967295"/>
          </p:nvPr>
        </p:nvSpPr>
        <p:spPr>
          <a:xfrm>
            <a:off x="511769" y="567592"/>
            <a:ext cx="7697697" cy="236690"/>
          </a:xfrm>
        </p:spPr>
        <p:txBody>
          <a:bodyPr>
            <a:noAutofit/>
          </a:bodyPr>
          <a:lstStyle/>
          <a:p>
            <a:pPr algn="l">
              <a:lnSpc>
                <a:spcPct val="50000"/>
              </a:lnSpc>
              <a:spcBef>
                <a:spcPts val="0"/>
              </a:spcBef>
            </a:pPr>
            <a:r>
              <a:rPr lang="en-US" sz="3200" b="1" dirty="0">
                <a:solidFill>
                  <a:srgbClr val="0093BF"/>
                </a:solidFill>
                <a:latin typeface="Georgia" panose="02040502050405020303" pitchFamily="18" charset="0"/>
              </a:rPr>
              <a:t>Monetization &amp; Profit Sharing</a:t>
            </a:r>
            <a:endParaRPr lang="en-US" sz="3200" b="1" cap="none" dirty="0">
              <a:solidFill>
                <a:srgbClr val="0093BF"/>
              </a:solidFill>
              <a:latin typeface="Georgia" panose="02040502050405020303" pitchFamily="18" charset="0"/>
              <a:cs typeface="Trebuchet MS"/>
            </a:endParaRPr>
          </a:p>
        </p:txBody>
      </p:sp>
      <p:sp>
        <p:nvSpPr>
          <p:cNvPr id="2" name="TextBox 1">
            <a:extLst>
              <a:ext uri="{FF2B5EF4-FFF2-40B4-BE49-F238E27FC236}">
                <a16:creationId xmlns:a16="http://schemas.microsoft.com/office/drawing/2014/main" id="{1A82F237-BB10-01B1-0BAB-8B71BA481B08}"/>
              </a:ext>
            </a:extLst>
          </p:cNvPr>
          <p:cNvSpPr txBox="1"/>
          <p:nvPr/>
        </p:nvSpPr>
        <p:spPr>
          <a:xfrm>
            <a:off x="589143" y="1048717"/>
            <a:ext cx="7965713" cy="5486117"/>
          </a:xfrm>
          <a:prstGeom prst="rect">
            <a:avLst/>
          </a:prstGeom>
          <a:noFill/>
        </p:spPr>
        <p:txBody>
          <a:bodyPr wrap="square" rtlCol="0">
            <a:spAutoFit/>
          </a:bodyPr>
          <a:lstStyle/>
          <a:p>
            <a:r>
              <a:rPr lang="en-US" b="1" dirty="0">
                <a:solidFill>
                  <a:srgbClr val="0093BF"/>
                </a:solidFill>
                <a:latin typeface="Georgia" panose="02040502050405020303" pitchFamily="18" charset="0"/>
              </a:rPr>
              <a:t>1.  </a:t>
            </a:r>
            <a:r>
              <a:rPr lang="en-US" b="1" dirty="0">
                <a:latin typeface="Georgia" panose="02040502050405020303" pitchFamily="18" charset="0"/>
              </a:rPr>
              <a:t>Participants in the model:</a:t>
            </a:r>
            <a:endParaRPr lang="en-US" dirty="0">
              <a:latin typeface="Georgia" panose="02040502050405020303" pitchFamily="18" charset="0"/>
            </a:endParaRPr>
          </a:p>
          <a:p>
            <a:pPr>
              <a:spcBef>
                <a:spcPts val="600"/>
              </a:spcBef>
              <a:spcAft>
                <a:spcPts val="300"/>
              </a:spcAft>
            </a:pPr>
            <a:r>
              <a:rPr lang="ru-RU" sz="1650" dirty="0">
                <a:solidFill>
                  <a:srgbClr val="0093BF"/>
                </a:solidFill>
                <a:latin typeface="Georgia" panose="02040502050405020303" pitchFamily="18" charset="0"/>
                <a:sym typeface="Symbol" panose="05050102010706020507" pitchFamily="18" charset="2"/>
              </a:rPr>
              <a:t></a:t>
            </a:r>
            <a:r>
              <a:rPr lang="en-US" sz="1650" dirty="0">
                <a:solidFill>
                  <a:srgbClr val="0093BF"/>
                </a:solidFill>
                <a:latin typeface="Georgia" panose="02040502050405020303" pitchFamily="18" charset="0"/>
                <a:sym typeface="Symbol" panose="05050102010706020507" pitchFamily="18" charset="2"/>
              </a:rPr>
              <a:t>  </a:t>
            </a:r>
            <a:r>
              <a:rPr lang="en-US" sz="1650" b="1" dirty="0">
                <a:solidFill>
                  <a:srgbClr val="0093BF"/>
                </a:solidFill>
                <a:latin typeface="Georgia" panose="02040502050405020303" pitchFamily="18" charset="0"/>
              </a:rPr>
              <a:t>Mobile Operator:</a:t>
            </a:r>
            <a:r>
              <a:rPr lang="en-US" sz="1650" dirty="0">
                <a:solidFill>
                  <a:srgbClr val="0093BF"/>
                </a:solidFill>
                <a:latin typeface="Georgia" panose="02040502050405020303" pitchFamily="18" charset="0"/>
              </a:rPr>
              <a:t> </a:t>
            </a:r>
            <a:r>
              <a:rPr lang="en-US" sz="1650" dirty="0">
                <a:latin typeface="Georgia" panose="02040502050405020303" pitchFamily="18" charset="0"/>
              </a:rPr>
              <a:t>provides infrastructure, billing, SMS/data.</a:t>
            </a:r>
          </a:p>
          <a:p>
            <a:pPr>
              <a:spcAft>
                <a:spcPts val="300"/>
              </a:spcAft>
            </a:pPr>
            <a:r>
              <a:rPr lang="ru-RU" sz="1650" dirty="0">
                <a:solidFill>
                  <a:srgbClr val="0093BF"/>
                </a:solidFill>
                <a:latin typeface="Georgia" panose="02040502050405020303" pitchFamily="18" charset="0"/>
                <a:sym typeface="Symbol" panose="05050102010706020507" pitchFamily="18" charset="2"/>
              </a:rPr>
              <a:t></a:t>
            </a:r>
            <a:r>
              <a:rPr lang="en-US" sz="1650" dirty="0">
                <a:solidFill>
                  <a:srgbClr val="0093BF"/>
                </a:solidFill>
                <a:latin typeface="Georgia" panose="02040502050405020303" pitchFamily="18" charset="0"/>
                <a:sym typeface="Symbol" panose="05050102010706020507" pitchFamily="18" charset="2"/>
              </a:rPr>
              <a:t>  </a:t>
            </a:r>
            <a:r>
              <a:rPr lang="en-US" sz="1650" b="1" dirty="0" err="1">
                <a:solidFill>
                  <a:srgbClr val="0093BF"/>
                </a:solidFill>
                <a:latin typeface="Georgia" panose="02040502050405020303" pitchFamily="18" charset="0"/>
              </a:rPr>
              <a:t>Unifun</a:t>
            </a:r>
            <a:r>
              <a:rPr lang="en-US" sz="1650" b="1" dirty="0">
                <a:solidFill>
                  <a:srgbClr val="0093BF"/>
                </a:solidFill>
                <a:latin typeface="Georgia" panose="02040502050405020303" pitchFamily="18" charset="0"/>
              </a:rPr>
              <a:t>:</a:t>
            </a:r>
            <a:r>
              <a:rPr lang="en-US" sz="1650" dirty="0">
                <a:solidFill>
                  <a:srgbClr val="0093BF"/>
                </a:solidFill>
                <a:latin typeface="Georgia" panose="02040502050405020303" pitchFamily="18" charset="0"/>
              </a:rPr>
              <a:t> </a:t>
            </a:r>
            <a:r>
              <a:rPr lang="en-US" sz="1650" dirty="0">
                <a:latin typeface="Georgia" panose="02040502050405020303" pitchFamily="18" charset="0"/>
              </a:rPr>
              <a:t>develops and maintains the application, ensures service functionality.</a:t>
            </a:r>
          </a:p>
          <a:p>
            <a:pPr>
              <a:spcBef>
                <a:spcPts val="600"/>
              </a:spcBef>
            </a:pPr>
            <a:r>
              <a:rPr lang="en-US" b="1" dirty="0">
                <a:solidFill>
                  <a:srgbClr val="0093BF"/>
                </a:solidFill>
                <a:latin typeface="Georgia" panose="02040502050405020303" pitchFamily="18" charset="0"/>
              </a:rPr>
              <a:t>2.  </a:t>
            </a:r>
            <a:r>
              <a:rPr lang="en-US" b="1" dirty="0">
                <a:latin typeface="Georgia" panose="02040502050405020303" pitchFamily="18" charset="0"/>
              </a:rPr>
              <a:t>Revenue sources:</a:t>
            </a:r>
            <a:endParaRPr lang="en-US" dirty="0">
              <a:latin typeface="Georgia" panose="02040502050405020303" pitchFamily="18" charset="0"/>
            </a:endParaRPr>
          </a:p>
          <a:p>
            <a:pPr>
              <a:spcBef>
                <a:spcPts val="600"/>
              </a:spcBef>
              <a:spcAft>
                <a:spcPts val="300"/>
              </a:spcAft>
            </a:pPr>
            <a:r>
              <a:rPr lang="ru-RU" sz="1650" dirty="0">
                <a:solidFill>
                  <a:srgbClr val="0093BF"/>
                </a:solidFill>
                <a:latin typeface="Georgia" panose="02040502050405020303" pitchFamily="18" charset="0"/>
                <a:sym typeface="Symbol" panose="05050102010706020507" pitchFamily="18" charset="2"/>
              </a:rPr>
              <a:t> </a:t>
            </a:r>
            <a:r>
              <a:rPr lang="en-US" sz="1650" dirty="0">
                <a:solidFill>
                  <a:srgbClr val="0093BF"/>
                </a:solidFill>
                <a:latin typeface="Georgia" panose="02040502050405020303" pitchFamily="18" charset="0"/>
                <a:sym typeface="Symbol" panose="05050102010706020507" pitchFamily="18" charset="2"/>
              </a:rPr>
              <a:t> </a:t>
            </a:r>
            <a:r>
              <a:rPr lang="en-US" sz="1650" dirty="0">
                <a:latin typeface="Georgia" panose="02040502050405020303" pitchFamily="18" charset="0"/>
              </a:rPr>
              <a:t>Monthly subscriptions</a:t>
            </a:r>
          </a:p>
          <a:p>
            <a:pPr>
              <a:spcAft>
                <a:spcPts val="300"/>
              </a:spcAft>
            </a:pPr>
            <a:r>
              <a:rPr lang="ru-RU" sz="1650" dirty="0">
                <a:solidFill>
                  <a:srgbClr val="0093BF"/>
                </a:solidFill>
                <a:latin typeface="Georgia" panose="02040502050405020303" pitchFamily="18" charset="0"/>
                <a:sym typeface="Symbol" panose="05050102010706020507" pitchFamily="18" charset="2"/>
              </a:rPr>
              <a:t> </a:t>
            </a:r>
            <a:r>
              <a:rPr lang="en-US" sz="1650" dirty="0">
                <a:solidFill>
                  <a:srgbClr val="0093BF"/>
                </a:solidFill>
                <a:latin typeface="Georgia" panose="02040502050405020303" pitchFamily="18" charset="0"/>
                <a:sym typeface="Symbol" panose="05050102010706020507" pitchFamily="18" charset="2"/>
              </a:rPr>
              <a:t> </a:t>
            </a:r>
            <a:r>
              <a:rPr lang="en-US" sz="1650" dirty="0">
                <a:latin typeface="Georgia" panose="02040502050405020303" pitchFamily="18" charset="0"/>
              </a:rPr>
              <a:t>Subscriptions for advanced app features:</a:t>
            </a:r>
          </a:p>
          <a:p>
            <a:pPr lvl="1">
              <a:spcAft>
                <a:spcPts val="300"/>
              </a:spcAft>
            </a:pPr>
            <a:r>
              <a:rPr lang="en-US" sz="1650" dirty="0">
                <a:solidFill>
                  <a:srgbClr val="0093BF"/>
                </a:solidFill>
                <a:latin typeface="Georgia" panose="02040502050405020303" pitchFamily="18" charset="0"/>
                <a:sym typeface="Wingdings" panose="05000000000000000000" pitchFamily="2" charset="2"/>
              </a:rPr>
              <a:t></a:t>
            </a:r>
            <a:r>
              <a:rPr lang="ru-RU" sz="1650" dirty="0">
                <a:solidFill>
                  <a:srgbClr val="4398E5"/>
                </a:solidFill>
                <a:latin typeface="Georgia" panose="02040502050405020303" pitchFamily="18" charset="0"/>
                <a:sym typeface="Wingdings" panose="05000000000000000000" pitchFamily="2" charset="2"/>
              </a:rPr>
              <a:t>  </a:t>
            </a:r>
            <a:r>
              <a:rPr lang="en-US" sz="1650" dirty="0">
                <a:latin typeface="Georgia" panose="02040502050405020303" pitchFamily="18" charset="0"/>
              </a:rPr>
              <a:t>Movement history</a:t>
            </a:r>
          </a:p>
          <a:p>
            <a:pPr lvl="1">
              <a:spcAft>
                <a:spcPts val="300"/>
              </a:spcAft>
            </a:pPr>
            <a:r>
              <a:rPr lang="en-US" sz="1650" dirty="0">
                <a:solidFill>
                  <a:srgbClr val="0093BF"/>
                </a:solidFill>
                <a:latin typeface="Georgia" panose="02040502050405020303" pitchFamily="18" charset="0"/>
                <a:sym typeface="Wingdings" panose="05000000000000000000" pitchFamily="2" charset="2"/>
              </a:rPr>
              <a:t></a:t>
            </a:r>
            <a:r>
              <a:rPr lang="en-US" sz="1650" dirty="0">
                <a:solidFill>
                  <a:srgbClr val="4398E5"/>
                </a:solidFill>
                <a:latin typeface="Georgia" panose="02040502050405020303" pitchFamily="18" charset="0"/>
                <a:sym typeface="Wingdings" panose="05000000000000000000" pitchFamily="2" charset="2"/>
              </a:rPr>
              <a:t> </a:t>
            </a:r>
            <a:r>
              <a:rPr lang="ru-RU" sz="1650" dirty="0">
                <a:solidFill>
                  <a:srgbClr val="4398E5"/>
                </a:solidFill>
                <a:latin typeface="Georgia" panose="02040502050405020303" pitchFamily="18" charset="0"/>
                <a:sym typeface="Wingdings" panose="05000000000000000000" pitchFamily="2" charset="2"/>
              </a:rPr>
              <a:t> </a:t>
            </a:r>
            <a:r>
              <a:rPr lang="en-US" sz="1650" dirty="0">
                <a:latin typeface="Georgia" panose="02040502050405020303" pitchFamily="18" charset="0"/>
              </a:rPr>
              <a:t>Detailed movement notifications for subscribers</a:t>
            </a:r>
          </a:p>
          <a:p>
            <a:pPr lvl="1">
              <a:spcAft>
                <a:spcPts val="300"/>
              </a:spcAft>
            </a:pPr>
            <a:r>
              <a:rPr lang="en-US" sz="1650" dirty="0">
                <a:solidFill>
                  <a:srgbClr val="0093BF"/>
                </a:solidFill>
                <a:latin typeface="Georgia" panose="02040502050405020303" pitchFamily="18" charset="0"/>
                <a:sym typeface="Wingdings" panose="05000000000000000000" pitchFamily="2" charset="2"/>
              </a:rPr>
              <a:t></a:t>
            </a:r>
            <a:r>
              <a:rPr lang="en-US" sz="1650" dirty="0">
                <a:solidFill>
                  <a:srgbClr val="4398E5"/>
                </a:solidFill>
                <a:latin typeface="Georgia" panose="02040502050405020303" pitchFamily="18" charset="0"/>
                <a:sym typeface="Wingdings" panose="05000000000000000000" pitchFamily="2" charset="2"/>
              </a:rPr>
              <a:t> </a:t>
            </a:r>
            <a:r>
              <a:rPr lang="ru-RU" sz="1650" dirty="0">
                <a:solidFill>
                  <a:srgbClr val="4398E5"/>
                </a:solidFill>
                <a:latin typeface="Georgia" panose="02040502050405020303" pitchFamily="18" charset="0"/>
                <a:sym typeface="Wingdings" panose="05000000000000000000" pitchFamily="2" charset="2"/>
              </a:rPr>
              <a:t> </a:t>
            </a:r>
            <a:r>
              <a:rPr lang="en-US" sz="1650" dirty="0">
                <a:latin typeface="Georgia" panose="02040502050405020303" pitchFamily="18" charset="0"/>
              </a:rPr>
              <a:t>Additional maps, layers, analytics</a:t>
            </a:r>
          </a:p>
          <a:p>
            <a:pPr>
              <a:spcBef>
                <a:spcPts val="600"/>
              </a:spcBef>
            </a:pPr>
            <a:r>
              <a:rPr lang="en-US" b="1" dirty="0">
                <a:solidFill>
                  <a:srgbClr val="0093BF"/>
                </a:solidFill>
                <a:latin typeface="Georgia" panose="02040502050405020303" pitchFamily="18" charset="0"/>
              </a:rPr>
              <a:t>3. </a:t>
            </a:r>
            <a:r>
              <a:rPr lang="en-US" b="1" dirty="0">
                <a:latin typeface="Georgia" panose="02040502050405020303" pitchFamily="18" charset="0"/>
              </a:rPr>
              <a:t>Revenue sharing mechanism:</a:t>
            </a:r>
            <a:endParaRPr lang="en-US" dirty="0">
              <a:latin typeface="Georgia" panose="02040502050405020303" pitchFamily="18" charset="0"/>
            </a:endParaRPr>
          </a:p>
          <a:p>
            <a:pPr>
              <a:spcBef>
                <a:spcPts val="600"/>
              </a:spcBef>
              <a:spcAft>
                <a:spcPts val="300"/>
              </a:spcAft>
            </a:pPr>
            <a:r>
              <a:rPr lang="ru-RU" sz="1650" dirty="0">
                <a:solidFill>
                  <a:srgbClr val="0093BF"/>
                </a:solidFill>
                <a:latin typeface="Georgia" panose="02040502050405020303" pitchFamily="18" charset="0"/>
                <a:sym typeface="Symbol" panose="05050102010706020507" pitchFamily="18" charset="2"/>
              </a:rPr>
              <a:t>  </a:t>
            </a:r>
            <a:r>
              <a:rPr lang="en-US" sz="1650" dirty="0">
                <a:latin typeface="Georgia" panose="02040502050405020303" pitchFamily="18" charset="0"/>
              </a:rPr>
              <a:t>Profit, after taxes and fees, is split 50/50 between the mobile operator and </a:t>
            </a:r>
            <a:r>
              <a:rPr lang="en-US" sz="1650" dirty="0" err="1">
                <a:latin typeface="Georgia" panose="02040502050405020303" pitchFamily="18" charset="0"/>
              </a:rPr>
              <a:t>Unifun</a:t>
            </a:r>
            <a:r>
              <a:rPr lang="en-US" sz="1650" dirty="0">
                <a:latin typeface="Georgia" panose="02040502050405020303" pitchFamily="18" charset="0"/>
              </a:rPr>
              <a:t>.</a:t>
            </a:r>
          </a:p>
          <a:p>
            <a:pPr>
              <a:spcBef>
                <a:spcPts val="600"/>
              </a:spcBef>
            </a:pPr>
            <a:r>
              <a:rPr lang="en-US" b="1" dirty="0">
                <a:solidFill>
                  <a:srgbClr val="0093BF"/>
                </a:solidFill>
                <a:latin typeface="Georgia" panose="02040502050405020303" pitchFamily="18" charset="0"/>
              </a:rPr>
              <a:t>4. </a:t>
            </a:r>
            <a:r>
              <a:rPr lang="en-US" b="1" dirty="0">
                <a:latin typeface="Georgia" panose="02040502050405020303" pitchFamily="18" charset="0"/>
              </a:rPr>
              <a:t>Advantages of this model:</a:t>
            </a:r>
            <a:endParaRPr lang="en-US" dirty="0">
              <a:latin typeface="Georgia" panose="02040502050405020303" pitchFamily="18" charset="0"/>
            </a:endParaRPr>
          </a:p>
          <a:p>
            <a:pPr>
              <a:spcBef>
                <a:spcPts val="600"/>
              </a:spcBef>
              <a:spcAft>
                <a:spcPts val="300"/>
              </a:spcAft>
            </a:pPr>
            <a:r>
              <a:rPr lang="ru-RU" sz="1650" dirty="0">
                <a:solidFill>
                  <a:srgbClr val="0093BF"/>
                </a:solidFill>
                <a:latin typeface="Georgia" panose="02040502050405020303" pitchFamily="18" charset="0"/>
                <a:sym typeface="Symbol" panose="05050102010706020507" pitchFamily="18" charset="2"/>
              </a:rPr>
              <a:t>  </a:t>
            </a:r>
            <a:r>
              <a:rPr lang="en-US" sz="1650" dirty="0">
                <a:latin typeface="Georgia" panose="02040502050405020303" pitchFamily="18" charset="0"/>
              </a:rPr>
              <a:t>Minimizes risks for both parties: revenue depends on actual subscriptions.</a:t>
            </a:r>
          </a:p>
          <a:p>
            <a:pPr>
              <a:spcAft>
                <a:spcPts val="300"/>
              </a:spcAft>
            </a:pPr>
            <a:r>
              <a:rPr lang="ru-RU" sz="1650" dirty="0">
                <a:solidFill>
                  <a:srgbClr val="0093BF"/>
                </a:solidFill>
                <a:latin typeface="Georgia" panose="02040502050405020303" pitchFamily="18" charset="0"/>
                <a:sym typeface="Symbol" panose="05050102010706020507" pitchFamily="18" charset="2"/>
              </a:rPr>
              <a:t>  </a:t>
            </a:r>
            <a:r>
              <a:rPr lang="en-US" sz="1650" dirty="0">
                <a:latin typeface="Georgia" panose="02040502050405020303" pitchFamily="18" charset="0"/>
              </a:rPr>
              <a:t>Encourages both parties to increase user retention and acquisition.</a:t>
            </a:r>
          </a:p>
          <a:p>
            <a:pPr>
              <a:spcAft>
                <a:spcPts val="300"/>
              </a:spcAft>
            </a:pPr>
            <a:r>
              <a:rPr lang="ru-RU" sz="1650" dirty="0">
                <a:solidFill>
                  <a:srgbClr val="0093BF"/>
                </a:solidFill>
                <a:latin typeface="Georgia" panose="02040502050405020303" pitchFamily="18" charset="0"/>
                <a:sym typeface="Symbol" panose="05050102010706020507" pitchFamily="18" charset="2"/>
              </a:rPr>
              <a:t>  </a:t>
            </a:r>
            <a:r>
              <a:rPr lang="en-US" sz="1650" dirty="0">
                <a:latin typeface="Georgia" panose="02040502050405020303" pitchFamily="18" charset="0"/>
              </a:rPr>
              <a:t>Allows flexible adjustment of tariffs and bonuses for users.</a:t>
            </a:r>
          </a:p>
          <a:p>
            <a:endParaRPr lang="ru-RU" dirty="0"/>
          </a:p>
        </p:txBody>
      </p:sp>
      <p:pic>
        <p:nvPicPr>
          <p:cNvPr id="5" name="Рисунок 4">
            <a:extLst>
              <a:ext uri="{FF2B5EF4-FFF2-40B4-BE49-F238E27FC236}">
                <a16:creationId xmlns:a16="http://schemas.microsoft.com/office/drawing/2014/main" id="{852B591D-A374-1CDE-2769-72EE716334E7}"/>
              </a:ext>
            </a:extLst>
          </p:cNvPr>
          <p:cNvPicPr>
            <a:picLocks noChangeAspect="1"/>
          </p:cNvPicPr>
          <p:nvPr/>
        </p:nvPicPr>
        <p:blipFill>
          <a:blip r:embed="rId2"/>
          <a:stretch>
            <a:fillRect/>
          </a:stretch>
        </p:blipFill>
        <p:spPr>
          <a:xfrm>
            <a:off x="7232650" y="2336800"/>
            <a:ext cx="1536700" cy="1536700"/>
          </a:xfrm>
          <a:prstGeom prst="rect">
            <a:avLst/>
          </a:prstGeom>
        </p:spPr>
      </p:pic>
    </p:spTree>
    <p:extLst>
      <p:ext uri="{BB962C8B-B14F-4D97-AF65-F5344CB8AC3E}">
        <p14:creationId xmlns:p14="http://schemas.microsoft.com/office/powerpoint/2010/main" val="2702122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F3874008-F38C-7990-F1BB-5F1473DE0CD9}"/>
              </a:ext>
            </a:extLst>
          </p:cNvPr>
          <p:cNvSpPr>
            <a:spLocks noGrp="1"/>
          </p:cNvSpPr>
          <p:nvPr>
            <p:ph type="body" idx="4294967295"/>
          </p:nvPr>
        </p:nvSpPr>
        <p:spPr>
          <a:xfrm>
            <a:off x="457200" y="1295400"/>
            <a:ext cx="8229600" cy="4830763"/>
          </a:xfrm>
        </p:spPr>
        <p:txBody>
          <a:bodyPr>
            <a:normAutofit/>
          </a:bodyPr>
          <a:lstStyle/>
          <a:p>
            <a:pPr marL="0" indent="0">
              <a:spcBef>
                <a:spcPts val="1200"/>
              </a:spcBef>
              <a:spcAft>
                <a:spcPts val="1200"/>
              </a:spcAft>
              <a:buNone/>
            </a:pPr>
            <a:r>
              <a:rPr lang="en-US" sz="1800" dirty="0">
                <a:latin typeface="Georgia" panose="02040502050405020303" pitchFamily="18" charset="0"/>
              </a:rPr>
              <a:t>The </a:t>
            </a:r>
            <a:r>
              <a:rPr lang="en-US" sz="1800" b="1" dirty="0">
                <a:solidFill>
                  <a:srgbClr val="0093BF"/>
                </a:solidFill>
                <a:latin typeface="Georgia" panose="02040502050405020303" pitchFamily="18" charset="0"/>
              </a:rPr>
              <a:t>“Where Are You?”</a:t>
            </a:r>
            <a:r>
              <a:rPr lang="en-US" sz="1800" dirty="0">
                <a:solidFill>
                  <a:srgbClr val="0093BF"/>
                </a:solidFill>
                <a:latin typeface="Georgia" panose="02040502050405020303" pitchFamily="18" charset="0"/>
              </a:rPr>
              <a:t> </a:t>
            </a:r>
            <a:r>
              <a:rPr lang="en-US" sz="1800" dirty="0">
                <a:latin typeface="Georgia" panose="02040502050405020303" pitchFamily="18" charset="0"/>
              </a:rPr>
              <a:t>service not only increases revenue and improves customer retention, but also meets the growing demand for safety and connectivity.</a:t>
            </a:r>
            <a:br>
              <a:rPr lang="en-US" sz="1800" dirty="0">
                <a:latin typeface="Georgia" panose="02040502050405020303" pitchFamily="18" charset="0"/>
              </a:rPr>
            </a:br>
            <a:br>
              <a:rPr lang="en-US" sz="1800" dirty="0">
                <a:latin typeface="Georgia" panose="02040502050405020303" pitchFamily="18" charset="0"/>
              </a:rPr>
            </a:br>
            <a:r>
              <a:rPr lang="en-US" sz="1800" dirty="0">
                <a:latin typeface="Georgia" panose="02040502050405020303" pitchFamily="18" charset="0"/>
              </a:rPr>
              <a:t>Our company has extensive expertise in VAS services and in launching and supporting full product development cycles.</a:t>
            </a:r>
            <a:br>
              <a:rPr lang="en-US" sz="1800" dirty="0">
                <a:latin typeface="Georgia" panose="02040502050405020303" pitchFamily="18" charset="0"/>
              </a:rPr>
            </a:br>
            <a:br>
              <a:rPr lang="en-US" sz="1800" dirty="0">
                <a:latin typeface="Georgia" panose="02040502050405020303" pitchFamily="18" charset="0"/>
              </a:rPr>
            </a:br>
            <a:r>
              <a:rPr lang="en-US" sz="1800" b="1" dirty="0">
                <a:solidFill>
                  <a:srgbClr val="0093BF"/>
                </a:solidFill>
                <a:latin typeface="Georgia" panose="02040502050405020303" pitchFamily="18" charset="0"/>
              </a:rPr>
              <a:t>Let’s build “Where Are You?” together!</a:t>
            </a:r>
            <a:endParaRPr lang="ru-RU" sz="1800" dirty="0">
              <a:solidFill>
                <a:srgbClr val="0093BF"/>
              </a:solidFill>
              <a:latin typeface="Georgia" panose="02040502050405020303" pitchFamily="18" charset="0"/>
            </a:endParaRPr>
          </a:p>
        </p:txBody>
      </p:sp>
      <p:sp>
        <p:nvSpPr>
          <p:cNvPr id="3" name="Заголовок 2">
            <a:extLst>
              <a:ext uri="{FF2B5EF4-FFF2-40B4-BE49-F238E27FC236}">
                <a16:creationId xmlns:a16="http://schemas.microsoft.com/office/drawing/2014/main" id="{8FE2DC1F-00F0-1144-7292-5C9969B3E465}"/>
              </a:ext>
            </a:extLst>
          </p:cNvPr>
          <p:cNvSpPr>
            <a:spLocks noGrp="1"/>
          </p:cNvSpPr>
          <p:nvPr>
            <p:ph type="title" idx="4294967295"/>
          </p:nvPr>
        </p:nvSpPr>
        <p:spPr/>
        <p:txBody>
          <a:bodyPr>
            <a:normAutofit/>
          </a:bodyPr>
          <a:lstStyle/>
          <a:p>
            <a:pPr algn="l"/>
            <a:r>
              <a:rPr lang="en-US" sz="3200" b="1" dirty="0">
                <a:solidFill>
                  <a:srgbClr val="0093BF"/>
                </a:solidFill>
                <a:latin typeface="Georgia" panose="02040502050405020303" pitchFamily="18" charset="0"/>
              </a:rPr>
              <a:t>Conclusion</a:t>
            </a:r>
            <a:endParaRPr lang="ru-RU" sz="3200" b="1" dirty="0">
              <a:solidFill>
                <a:srgbClr val="0093BF"/>
              </a:solidFill>
              <a:latin typeface="Georgia" panose="02040502050405020303" pitchFamily="18" charset="0"/>
            </a:endParaRPr>
          </a:p>
        </p:txBody>
      </p:sp>
    </p:spTree>
    <p:extLst>
      <p:ext uri="{BB962C8B-B14F-4D97-AF65-F5344CB8AC3E}">
        <p14:creationId xmlns:p14="http://schemas.microsoft.com/office/powerpoint/2010/main" val="2721481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0A3B9CC1-9485-58BB-0FDC-B3313338E5F3}"/>
              </a:ext>
            </a:extLst>
          </p:cNvPr>
          <p:cNvPicPr>
            <a:picLocks noChangeAspect="1"/>
          </p:cNvPicPr>
          <p:nvPr/>
        </p:nvPicPr>
        <p:blipFill rotWithShape="1">
          <a:blip r:embed="rId2"/>
          <a:srcRect l="12530" r="12495"/>
          <a:stretch/>
        </p:blipFill>
        <p:spPr>
          <a:xfrm>
            <a:off x="0" y="-2301"/>
            <a:ext cx="9144000" cy="6860301"/>
          </a:xfrm>
          <a:prstGeom prst="rect">
            <a:avLst/>
          </a:prstGeom>
        </p:spPr>
      </p:pic>
      <p:sp>
        <p:nvSpPr>
          <p:cNvPr id="3" name="Заголовок 2">
            <a:extLst>
              <a:ext uri="{FF2B5EF4-FFF2-40B4-BE49-F238E27FC236}">
                <a16:creationId xmlns:a16="http://schemas.microsoft.com/office/drawing/2014/main" id="{182446DC-4AAF-9502-AEB3-D0A566B6D893}"/>
              </a:ext>
            </a:extLst>
          </p:cNvPr>
          <p:cNvSpPr>
            <a:spLocks noGrp="1"/>
          </p:cNvSpPr>
          <p:nvPr>
            <p:ph type="title" idx="4294967295"/>
          </p:nvPr>
        </p:nvSpPr>
        <p:spPr>
          <a:xfrm>
            <a:off x="1230451" y="1495793"/>
            <a:ext cx="6683098" cy="346539"/>
          </a:xfrm>
        </p:spPr>
        <p:txBody>
          <a:bodyPr/>
          <a:lstStyle/>
          <a:p>
            <a:r>
              <a:rPr lang="en-US" sz="3200" b="1" i="0" u="none" strike="noStrike" baseline="0" dirty="0">
                <a:solidFill>
                  <a:srgbClr val="FFFFFF"/>
                </a:solidFill>
                <a:latin typeface="Georgia" panose="02040502050405020303" pitchFamily="18" charset="0"/>
              </a:rPr>
              <a:t>Thank you for your attention!</a:t>
            </a:r>
            <a:br>
              <a:rPr lang="en-US" sz="3200" b="1" i="0" u="none" strike="noStrike" baseline="0" dirty="0">
                <a:solidFill>
                  <a:srgbClr val="FFFFFF"/>
                </a:solidFill>
                <a:latin typeface="Georgia" panose="02040502050405020303" pitchFamily="18" charset="0"/>
              </a:rPr>
            </a:br>
            <a:br>
              <a:rPr lang="ru-RU" b="1" dirty="0"/>
            </a:br>
            <a:endParaRPr lang="ru-RU" b="1" dirty="0"/>
          </a:p>
        </p:txBody>
      </p:sp>
      <p:pic>
        <p:nvPicPr>
          <p:cNvPr id="11" name="Рисунок 10">
            <a:extLst>
              <a:ext uri="{FF2B5EF4-FFF2-40B4-BE49-F238E27FC236}">
                <a16:creationId xmlns:a16="http://schemas.microsoft.com/office/drawing/2014/main" id="{1AB118A2-B2B0-2234-7A75-025665575972}"/>
              </a:ext>
            </a:extLst>
          </p:cNvPr>
          <p:cNvPicPr>
            <a:picLocks noChangeAspect="1"/>
          </p:cNvPicPr>
          <p:nvPr/>
        </p:nvPicPr>
        <p:blipFill>
          <a:blip r:embed="rId3"/>
          <a:stretch>
            <a:fillRect/>
          </a:stretch>
        </p:blipFill>
        <p:spPr>
          <a:xfrm>
            <a:off x="358366" y="240318"/>
            <a:ext cx="1132894" cy="526796"/>
          </a:xfrm>
          <a:prstGeom prst="rect">
            <a:avLst/>
          </a:prstGeom>
        </p:spPr>
      </p:pic>
    </p:spTree>
    <p:extLst>
      <p:ext uri="{BB962C8B-B14F-4D97-AF65-F5344CB8AC3E}">
        <p14:creationId xmlns:p14="http://schemas.microsoft.com/office/powerpoint/2010/main" val="15943130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IO_MST_COLOR_1" val="0,0,0,Dark 1"/>
  <p:tag name="MIO_MST_COLOR_2" val="255,255,255,Light 1"/>
  <p:tag name="MIO_MST_COLOR_3" val="31,73,125,Dark 2"/>
  <p:tag name="MIO_MST_COLOR_4" val="238,236,225,Light 2"/>
  <p:tag name="MIO_MST_COLOR_5" val="79,129,189,Accent 1"/>
  <p:tag name="MIO_MST_COLOR_6" val="192,80,77,Accent 2"/>
  <p:tag name="MIO_MST_COLOR_7" val="155,187,89,Accent 3"/>
  <p:tag name="MIO_MST_COLOR_8" val="128,100,162,Accent 4"/>
  <p:tag name="MIO_MST_COLOR_9" val="75,172,198,Accent 5"/>
  <p:tag name="MIO_MST_COLOR_10" val="247,150,70,Accent 6"/>
  <p:tag name="MIO_MST_COLOR_11" val="0,0,255,"/>
  <p:tag name="MIO_MST_COLOR_12" val="128,0,128,"/>
  <p:tag name="MIO_PRESI_FIRST_SLIDENUMBER" val="1"/>
  <p:tag name="MIO_HDS" val="True"/>
  <p:tag name="MIO_EK" val="1044"/>
  <p:tag name="MIO_UPDATE" val="True"/>
  <p:tag name="MIO_VERSION" val="05.11.2014 21:53:05"/>
  <p:tag name="MIO_DBID" val="528EDE50-A806-43D6-A4AF-2784DE2408F4"/>
  <p:tag name="MIO_LASTDOWNLOADED" val="27.11.2014 16:52:55"/>
  <p:tag name="MIO_OBJECTNAME" val="Test"/>
  <p:tag name="MIO_LASTEDITORNAME" val="Alexandr Malasciuc"/>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18189</TotalTime>
  <Words>600</Words>
  <Application>Microsoft Office PowerPoint</Application>
  <PresentationFormat>Экран (4:3)</PresentationFormat>
  <Paragraphs>60</Paragraphs>
  <Slides>8</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8</vt:i4>
      </vt:variant>
    </vt:vector>
  </HeadingPairs>
  <TitlesOfParts>
    <vt:vector size="12" baseType="lpstr">
      <vt:lpstr>Arial</vt:lpstr>
      <vt:lpstr>Calibri</vt:lpstr>
      <vt:lpstr>Georgia</vt:lpstr>
      <vt:lpstr>1_Office Theme</vt:lpstr>
      <vt:lpstr>WHERE ARE YOU?</vt:lpstr>
      <vt:lpstr>Service Overview</vt:lpstr>
      <vt:lpstr>Why do you need this service</vt:lpstr>
      <vt:lpstr>How it works</vt:lpstr>
      <vt:lpstr>Benefits for Subscribers</vt:lpstr>
      <vt:lpstr>Monetization &amp; Profit Sharing</vt:lpstr>
      <vt:lpstr>Conclusion</vt:lpstr>
      <vt:lpstr>Thank you for your attention!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Power Point Presentation</dc:title>
  <dc:creator>MAC</dc:creator>
  <cp:lastModifiedBy>Пользователь</cp:lastModifiedBy>
  <cp:revision>1255</cp:revision>
  <dcterms:created xsi:type="dcterms:W3CDTF">2012-04-20T06:53:17Z</dcterms:created>
  <dcterms:modified xsi:type="dcterms:W3CDTF">2026-01-21T05:40:39Z</dcterms:modified>
</cp:coreProperties>
</file>